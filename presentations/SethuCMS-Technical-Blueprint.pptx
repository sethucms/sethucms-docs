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7" r:id="rId19"/>
    <p:sldId id="268" r:id="rId20"/>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9" Type="http://schemas.openxmlformats.org/officeDocument/2006/relationships/slide" Target="slides/slide12.xml"/><Relationship Id="rId20" Type="http://schemas.openxmlformats.org/officeDocument/2006/relationships/slide" Target="slides/slide13.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one sentence: SethuCMS is a gateway. Your database stays where it is; SethuCMS adds one API, one admin app and one security layer on top. Version 0.1.0 is public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problem in one slide. Nobody chooses to have three admin panels. It happens because each database is the right choice for one job. SethuCMS does not ask you to move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quote one analyst figure as fact. Demand for bring-your-own-database across MongoDB and Firestore is a hypothesis; the first 90 days test it. Do not add the commerce-CMS figure to these; they overlap.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timing argument. Directus is the closest rival and it is now source-available. Vendor-marketing sources describe the churn, so treat it as directional.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about overlap. The full 20-product comparison is in the investor brief. Check funding and star counts live before quoting any.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 three is unique alone. The combination is the wedge. Say the weaknesses yourself before an investor does.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illustration, not a customer story. Walk left to right: the data stays where it is, SethuCMS controls what is visible and who can change it, the storefront gets one safe API. Marketplace dashboards are planned, not built.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scenarios, not customers. MongoDB and Firestore are not yet verified on the real products, so the first design-partner deployments should start on PostgreSQL or MySQL where possible.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idea. Clients talk only to the gateway. The gateway holds credentials and decides what each token may do. Six adapters ship in 0.1.0.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this is implemented and tested locally. Not yet done: an external penetration review, load tests and key rotation drill. The roadmap slide lists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editor experience: safe by default. A draft stores a fingerprint of the record; publish refuses with record_changed if it moved.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SDK published as @sethucms/sdk 0.1.0. The portfolio website uses exactly this pattern.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proof it runs. Offer to show the admin app live. Do not claim users or revenue; there are none yet.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Migration is the second main feature after one admin app. State the limits: it does not create indexes, views or users, and it is not one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this slide if someone asks what is real. Stating the gaps yourself is stronger than being caught on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Matches the 90-day plan in the investor brief. The first priority is evidence, not features.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 these clearly as planned. The schema writer must never change a database without an approved plan, the same way Publish needs a click.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plan in one slide: ads fund the free tier, Pro and Ultra remove them and add the agent features. Ultra's extra benefits over Pro are not decided yet; fill in the bracket. Mark everything as planned, not live.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Commercial open source takes years: Strapi had 450+ paying customers about six years after founding. Show slope, not size. No conversion rates are public, so do not quote 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Promise evidence, not users. The security targets are targets, not SLAs. Do not claim an audit, certifications or DPDP/GDPR compliance; customers who self-host stay the data controller.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the meeting as relationship plus feedback, with a follow-up date. Work out the runway figure with a CA. Startup India needs DPIIT recognition and a company; individuals are not eligible.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the ask: design partners, feedback and, later, sponsorship or investment.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340"/>
        </a:solidFill>
        <a:effectLst/>
      </p:bgPr>
    </p:bg>
    <p:spTree>
      <p:nvGrpSpPr>
        <p:cNvPr id="1" name=""/>
        <p:cNvGrpSpPr/>
        <p:nvPr/>
      </p:nvGrpSpPr>
      <p:grpSpPr/>
      <p:pic>
        <p:nvPicPr>
          <p:cNvPr id="2" name="Picture 1" descr="sethucms_logo.png"/>
          <p:cNvPicPr>
            <a:picLocks noChangeAspect="1"/>
          </p:cNvPicPr>
          <p:nvPr/>
        </p:nvPicPr>
        <p:blipFill>
          <a:blip r:embed="rId3"/>
          <a:stretch>
            <a:fillRect/>
          </a:stretch>
        </p:blipFill>
        <p:spPr>
          <a:xfrm>
            <a:off x="822960" y="685800"/>
            <a:ext cx="1005840" cy="1005840"/>
          </a:xfrm>
          <a:prstGeom prst="rect">
            <a:avLst/>
          </a:prstGeom>
        </p:spPr>
      </p:pic>
      <p:sp>
        <p:nvSpPr>
          <p:cNvPr id="3" name="TextBox 2"/>
          <p:cNvSpPr txBox="1"/>
          <p:nvPr/>
        </p:nvSpPr>
        <p:spPr>
          <a:xfrm>
            <a:off x="822960" y="1920240"/>
            <a:ext cx="9144000" cy="365760"/>
          </a:xfrm>
          <a:prstGeom prst="rect">
            <a:avLst/>
          </a:prstGeom>
          <a:noFill/>
        </p:spPr>
        <p:txBody>
          <a:bodyPr wrap="square" lIns="0" rIns="0" tIns="0" bIns="0" anchor="t">
            <a:spAutoFit/>
          </a:bodyPr>
          <a:lstStyle/>
          <a:p>
            <a:pPr algn="l">
              <a:lnSpc>
                <a:spcPct val="115000"/>
              </a:lnSpc>
            </a:pPr>
            <a:r>
              <a:rPr sz="1600" b="0">
                <a:solidFill>
                  <a:srgbClr val="F2B84B"/>
                </a:solidFill>
                <a:latin typeface="Courier New"/>
              </a:rPr>
              <a:t>Technical blueprint · v0.1.0</a:t>
            </a:r>
          </a:p>
        </p:txBody>
      </p:sp>
      <p:sp>
        <p:nvSpPr>
          <p:cNvPr id="4" name="TextBox 3"/>
          <p:cNvSpPr txBox="1"/>
          <p:nvPr/>
        </p:nvSpPr>
        <p:spPr>
          <a:xfrm>
            <a:off x="822960" y="2377440"/>
            <a:ext cx="10058400" cy="1463040"/>
          </a:xfrm>
          <a:prstGeom prst="rect">
            <a:avLst/>
          </a:prstGeom>
          <a:noFill/>
        </p:spPr>
        <p:txBody>
          <a:bodyPr wrap="square" lIns="0" rIns="0" tIns="0" bIns="0" anchor="t">
            <a:spAutoFit/>
          </a:bodyPr>
          <a:lstStyle/>
          <a:p>
            <a:pPr algn="l">
              <a:lnSpc>
                <a:spcPct val="115000"/>
              </a:lnSpc>
            </a:pPr>
            <a:r>
              <a:rPr sz="8800" b="1">
                <a:solidFill>
                  <a:srgbClr val="EAF0F8"/>
                </a:solidFill>
                <a:latin typeface="Arial"/>
              </a:rPr>
              <a:t>SethuCMS</a:t>
            </a:r>
          </a:p>
        </p:txBody>
      </p:sp>
      <p:sp>
        <p:nvSpPr>
          <p:cNvPr id="5" name="TextBox 4"/>
          <p:cNvSpPr txBox="1"/>
          <p:nvPr/>
        </p:nvSpPr>
        <p:spPr>
          <a:xfrm>
            <a:off x="822960" y="3931920"/>
            <a:ext cx="10058400" cy="731520"/>
          </a:xfrm>
          <a:prstGeom prst="rect">
            <a:avLst/>
          </a:prstGeom>
          <a:noFill/>
        </p:spPr>
        <p:txBody>
          <a:bodyPr wrap="square" lIns="0" rIns="0" tIns="0" bIns="0" anchor="t">
            <a:spAutoFit/>
          </a:bodyPr>
          <a:lstStyle/>
          <a:p>
            <a:pPr algn="l">
              <a:lnSpc>
                <a:spcPct val="115000"/>
              </a:lnSpc>
            </a:pPr>
            <a:r>
              <a:rPr sz="3400" b="0">
                <a:solidFill>
                  <a:srgbClr val="BFD0E6"/>
                </a:solidFill>
                <a:latin typeface="Arial"/>
              </a:rPr>
              <a:t>One CMS for every database.</a:t>
            </a:r>
          </a:p>
        </p:txBody>
      </p:sp>
      <p:sp>
        <p:nvSpPr>
          <p:cNvPr id="6" name="TextBox 5"/>
          <p:cNvSpPr txBox="1"/>
          <p:nvPr/>
        </p:nvSpPr>
        <p:spPr>
          <a:xfrm>
            <a:off x="822960" y="4754880"/>
            <a:ext cx="7772400" cy="1097280"/>
          </a:xfrm>
          <a:prstGeom prst="rect">
            <a:avLst/>
          </a:prstGeom>
          <a:noFill/>
        </p:spPr>
        <p:txBody>
          <a:bodyPr wrap="square" lIns="0" rIns="0" tIns="0" bIns="0" anchor="t">
            <a:spAutoFit/>
          </a:bodyPr>
          <a:lstStyle/>
          <a:p>
            <a:pPr algn="l">
              <a:lnSpc>
                <a:spcPct val="115000"/>
              </a:lnSpc>
            </a:pPr>
            <a:r>
              <a:rPr sz="1800" b="0">
                <a:solidFill>
                  <a:srgbClr val="BFD0E6"/>
                </a:solidFill>
                <a:latin typeface="Arial"/>
              </a:rPr>
              <a:t>A security-first gateway that puts one API and one admin app in front of SQL, document and key-value databases, without moving your data.</a:t>
            </a:r>
          </a:p>
        </p:txBody>
      </p:sp>
      <p:sp>
        <p:nvSpPr>
          <p:cNvPr id="7" name="TextBox 6"/>
          <p:cNvSpPr txBox="1"/>
          <p:nvPr/>
        </p:nvSpPr>
        <p:spPr>
          <a:xfrm>
            <a:off x="822960" y="6355080"/>
            <a:ext cx="10058400" cy="274320"/>
          </a:xfrm>
          <a:prstGeom prst="rect">
            <a:avLst/>
          </a:prstGeom>
          <a:noFill/>
        </p:spPr>
        <p:txBody>
          <a:bodyPr wrap="square" lIns="0" rIns="0" tIns="0" bIns="0" anchor="t">
            <a:spAutoFit/>
          </a:bodyPr>
          <a:lstStyle/>
          <a:p>
            <a:pPr algn="l">
              <a:lnSpc>
                <a:spcPct val="115000"/>
              </a:lnSpc>
            </a:pPr>
            <a:r>
              <a:rPr sz="1100" b="0">
                <a:solidFill>
                  <a:srgbClr val="8FA6C4"/>
                </a:solidFill>
                <a:latin typeface="Arial"/>
              </a:rPr>
              <a:t>Open source · MIT · @sethucms on npm and GitHub · 11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Every data stack grows its own admin panels</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Business case</a:t>
            </a:r>
          </a:p>
        </p:txBody>
      </p:sp>
      <p:sp>
        <p:nvSpPr>
          <p:cNvPr id="5" name="Rounded Rectangle 4"/>
          <p:cNvSpPr/>
          <p:nvPr/>
        </p:nvSpPr>
        <p:spPr>
          <a:xfrm>
            <a:off x="822960" y="1920240"/>
            <a:ext cx="3381146" cy="246888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21408"/>
            <a:ext cx="2923946"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Many databases</a:t>
            </a:r>
          </a:p>
        </p:txBody>
      </p:sp>
      <p:sp>
        <p:nvSpPr>
          <p:cNvPr id="7" name="TextBox 6"/>
          <p:cNvSpPr txBox="1"/>
          <p:nvPr/>
        </p:nvSpPr>
        <p:spPr>
          <a:xfrm>
            <a:off x="1051560" y="2697480"/>
            <a:ext cx="2923946" cy="1554480"/>
          </a:xfrm>
          <a:prstGeom prst="rect">
            <a:avLst/>
          </a:prstGeom>
          <a:noFill/>
        </p:spPr>
        <p:txBody>
          <a:bodyPr wrap="square" lIns="0" rIns="0" tIns="0" bIns="0" anchor="t">
            <a:spAutoFit/>
          </a:bodyPr>
          <a:lstStyle/>
          <a:p>
            <a:pPr algn="l">
              <a:lnSpc>
                <a:spcPct val="115000"/>
              </a:lnSpc>
            </a:pPr>
            <a:r>
              <a:rPr sz="1500" b="0">
                <a:solidFill>
                  <a:srgbClr val="4A5568"/>
                </a:solidFill>
                <a:latin typeface="Arial"/>
              </a:rPr>
              <a:t>Postgres for orders, Firestore for content, Redis for sessions. Each one fits its workload.</a:t>
            </a:r>
          </a:p>
        </p:txBody>
      </p:sp>
      <p:sp>
        <p:nvSpPr>
          <p:cNvPr id="8" name="Rounded Rectangle 7"/>
          <p:cNvSpPr/>
          <p:nvPr/>
        </p:nvSpPr>
        <p:spPr>
          <a:xfrm>
            <a:off x="4405274" y="1920240"/>
            <a:ext cx="3381146" cy="246888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3874" y="2121408"/>
            <a:ext cx="2923946"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Many admin tools</a:t>
            </a:r>
          </a:p>
        </p:txBody>
      </p:sp>
      <p:sp>
        <p:nvSpPr>
          <p:cNvPr id="10" name="TextBox 9"/>
          <p:cNvSpPr txBox="1"/>
          <p:nvPr/>
        </p:nvSpPr>
        <p:spPr>
          <a:xfrm>
            <a:off x="4633874" y="2697480"/>
            <a:ext cx="2923946" cy="1554480"/>
          </a:xfrm>
          <a:prstGeom prst="rect">
            <a:avLst/>
          </a:prstGeom>
          <a:noFill/>
        </p:spPr>
        <p:txBody>
          <a:bodyPr wrap="square" lIns="0" rIns="0" tIns="0" bIns="0" anchor="t">
            <a:spAutoFit/>
          </a:bodyPr>
          <a:lstStyle/>
          <a:p>
            <a:pPr algn="l">
              <a:lnSpc>
                <a:spcPct val="115000"/>
              </a:lnSpc>
            </a:pPr>
            <a:r>
              <a:rPr sz="1500" b="0">
                <a:solidFill>
                  <a:srgbClr val="4A5568"/>
                </a:solidFill>
                <a:latin typeface="Arial"/>
              </a:rPr>
              <a:t>Each database gets its own panel, its own logins and its own audit trail, or none at all.</a:t>
            </a:r>
          </a:p>
        </p:txBody>
      </p:sp>
      <p:sp>
        <p:nvSpPr>
          <p:cNvPr id="11" name="Rounded Rectangle 10"/>
          <p:cNvSpPr/>
          <p:nvPr/>
        </p:nvSpPr>
        <p:spPr>
          <a:xfrm>
            <a:off x="7987588" y="1920240"/>
            <a:ext cx="3381146" cy="246888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6188" y="2121408"/>
            <a:ext cx="2923946"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Apps tied to drivers</a:t>
            </a:r>
          </a:p>
        </p:txBody>
      </p:sp>
      <p:sp>
        <p:nvSpPr>
          <p:cNvPr id="13" name="TextBox 12"/>
          <p:cNvSpPr txBox="1"/>
          <p:nvPr/>
        </p:nvSpPr>
        <p:spPr>
          <a:xfrm>
            <a:off x="8216188" y="2697480"/>
            <a:ext cx="2923946" cy="1554480"/>
          </a:xfrm>
          <a:prstGeom prst="rect">
            <a:avLst/>
          </a:prstGeom>
          <a:noFill/>
        </p:spPr>
        <p:txBody>
          <a:bodyPr wrap="square" lIns="0" rIns="0" tIns="0" bIns="0" anchor="t">
            <a:spAutoFit/>
          </a:bodyPr>
          <a:lstStyle/>
          <a:p>
            <a:pPr algn="l">
              <a:lnSpc>
                <a:spcPct val="115000"/>
              </a:lnSpc>
            </a:pPr>
            <a:r>
              <a:rPr sz="1500" b="0">
                <a:solidFill>
                  <a:srgbClr val="4A5568"/>
                </a:solidFill>
                <a:latin typeface="Arial"/>
              </a:rPr>
              <a:t>Websites and mobile apps call each database directly, so credentials and rules spread everywhere.</a:t>
            </a:r>
          </a:p>
        </p:txBody>
      </p:sp>
      <p:sp>
        <p:nvSpPr>
          <p:cNvPr id="14" name="TextBox 13"/>
          <p:cNvSpPr txBox="1"/>
          <p:nvPr/>
        </p:nvSpPr>
        <p:spPr>
          <a:xfrm>
            <a:off x="822960" y="4754880"/>
            <a:ext cx="10545775" cy="640080"/>
          </a:xfrm>
          <a:prstGeom prst="rect">
            <a:avLst/>
          </a:prstGeom>
          <a:noFill/>
        </p:spPr>
        <p:txBody>
          <a:bodyPr wrap="square" lIns="0" rIns="0" tIns="0" bIns="0" anchor="t">
            <a:spAutoFit/>
          </a:bodyPr>
          <a:lstStyle/>
          <a:p>
            <a:pPr algn="l">
              <a:lnSpc>
                <a:spcPct val="115000"/>
              </a:lnSpc>
            </a:pPr>
            <a:r>
              <a:rPr sz="1800" b="0">
                <a:solidFill>
                  <a:srgbClr val="14213D"/>
                </a:solidFill>
                <a:latin typeface="Arial"/>
              </a:rPr>
              <a:t>Moving everything into one new database is slow and risky. Teams need one control point instead.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A big market, and estimates that disagree</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Business case</a:t>
            </a:r>
          </a:p>
        </p:txBody>
      </p:sp>
      <p:graphicFrame>
        <p:nvGraphicFramePr>
          <p:cNvPr id="5" name="Table 4"/>
          <p:cNvGraphicFramePr>
            <a:graphicFrameLocks noGrp="1"/>
          </p:cNvGraphicFramePr>
          <p:nvPr/>
        </p:nvGraphicFramePr>
        <p:xfrm>
          <a:off x="822960" y="1737360"/>
          <a:ext cx="10545773" cy="2468880"/>
        </p:xfrm>
        <a:graphic>
          <a:graphicData uri="http://schemas.openxmlformats.org/drawingml/2006/table">
            <a:tbl>
              <a:tblPr firstRow="1" bandRow="1">
                <a:tableStyleId>{5C22544A-7EE6-4342-B048-85BDC9FD1C3A}</a:tableStyleId>
              </a:tblPr>
              <a:tblGrid>
                <a:gridCol w="5272887"/>
                <a:gridCol w="2636443"/>
                <a:gridCol w="2636443"/>
              </a:tblGrid>
              <a:tr h="411480">
                <a:tc>
                  <a:txBody>
                    <a:bodyPr wrap="square"/>
                    <a:lstStyle/>
                    <a:p>
                      <a:r>
                        <a:rPr sz="1500" b="1">
                          <a:solidFill>
                            <a:srgbClr val="FFFFFF"/>
                          </a:solidFill>
                          <a:latin typeface="Arial"/>
                        </a:rPr>
                        <a:t>Analyst source</a:t>
                      </a:r>
                    </a:p>
                  </a:txBody>
                  <a:tcPr marL="109728" marR="109728" marT="54864" marB="54864">
                    <a:solidFill>
                      <a:srgbClr val="1F4E79"/>
                    </a:solidFill>
                  </a:tcPr>
                </a:tc>
                <a:tc>
                  <a:txBody>
                    <a:bodyPr wrap="square"/>
                    <a:lstStyle/>
                    <a:p>
                      <a:r>
                        <a:rPr sz="1500" b="1">
                          <a:solidFill>
                            <a:srgbClr val="FFFFFF"/>
                          </a:solidFill>
                          <a:latin typeface="Arial"/>
                        </a:rPr>
                        <a:t>2025 size</a:t>
                      </a:r>
                    </a:p>
                  </a:txBody>
                  <a:tcPr marL="109728" marR="109728" marT="54864" marB="54864">
                    <a:solidFill>
                      <a:srgbClr val="1F4E79"/>
                    </a:solidFill>
                  </a:tcPr>
                </a:tc>
                <a:tc>
                  <a:txBody>
                    <a:bodyPr wrap="square"/>
                    <a:lstStyle/>
                    <a:p>
                      <a:r>
                        <a:rPr sz="1500" b="1">
                          <a:solidFill>
                            <a:srgbClr val="FFFFFF"/>
                          </a:solidFill>
                          <a:latin typeface="Arial"/>
                        </a:rPr>
                        <a:t>Yearly growth</a:t>
                      </a:r>
                    </a:p>
                  </a:txBody>
                  <a:tcPr marL="109728" marR="109728" marT="54864" marB="54864">
                    <a:solidFill>
                      <a:srgbClr val="1F4E79"/>
                    </a:solidFill>
                  </a:tcPr>
                </a:tc>
              </a:tr>
              <a:tr h="411480">
                <a:tc>
                  <a:txBody>
                    <a:bodyPr wrap="square"/>
                    <a:lstStyle/>
                    <a:p>
                      <a:r>
                        <a:rPr sz="1500" b="1">
                          <a:solidFill>
                            <a:srgbClr val="14213D"/>
                          </a:solidFill>
                          <a:latin typeface="Arial"/>
                        </a:rPr>
                        <a:t>Market Intelo</a:t>
                      </a:r>
                    </a:p>
                  </a:txBody>
                  <a:tcPr marL="109728" marR="109728" marT="54864" marB="54864">
                    <a:solidFill>
                      <a:srgbClr val="FFFFFF"/>
                    </a:solidFill>
                  </a:tcPr>
                </a:tc>
                <a:tc>
                  <a:txBody>
                    <a:bodyPr wrap="square"/>
                    <a:lstStyle/>
                    <a:p>
                      <a:r>
                        <a:rPr sz="1500" b="0">
                          <a:solidFill>
                            <a:srgbClr val="14213D"/>
                          </a:solidFill>
                          <a:latin typeface="Arial"/>
                        </a:rPr>
                        <a:t>$2.1B</a:t>
                      </a:r>
                    </a:p>
                  </a:txBody>
                  <a:tcPr marL="109728" marR="109728" marT="54864" marB="54864">
                    <a:solidFill>
                      <a:srgbClr val="FFFFFF"/>
                    </a:solidFill>
                  </a:tcPr>
                </a:tc>
                <a:tc>
                  <a:txBody>
                    <a:bodyPr wrap="square"/>
                    <a:lstStyle/>
                    <a:p>
                      <a:r>
                        <a:rPr sz="1500" b="0">
                          <a:solidFill>
                            <a:srgbClr val="14213D"/>
                          </a:solidFill>
                          <a:latin typeface="Arial"/>
                        </a:rPr>
                        <a:t>22.6%</a:t>
                      </a:r>
                    </a:p>
                  </a:txBody>
                  <a:tcPr marL="109728" marR="109728" marT="54864" marB="54864">
                    <a:solidFill>
                      <a:srgbClr val="FFFFFF"/>
                    </a:solidFill>
                  </a:tcPr>
                </a:tc>
              </a:tr>
              <a:tr h="411480">
                <a:tc>
                  <a:txBody>
                    <a:bodyPr wrap="square"/>
                    <a:lstStyle/>
                    <a:p>
                      <a:r>
                        <a:rPr sz="1500" b="1">
                          <a:solidFill>
                            <a:srgbClr val="14213D"/>
                          </a:solidFill>
                          <a:latin typeface="Arial"/>
                        </a:rPr>
                        <a:t>Grand View Research</a:t>
                      </a:r>
                    </a:p>
                  </a:txBody>
                  <a:tcPr marL="109728" marR="109728" marT="54864" marB="54864">
                    <a:solidFill>
                      <a:srgbClr val="EEF1F6"/>
                    </a:solidFill>
                  </a:tcPr>
                </a:tc>
                <a:tc>
                  <a:txBody>
                    <a:bodyPr wrap="square"/>
                    <a:lstStyle/>
                    <a:p>
                      <a:r>
                        <a:rPr sz="1500" b="0">
                          <a:solidFill>
                            <a:srgbClr val="14213D"/>
                          </a:solidFill>
                          <a:latin typeface="Arial"/>
                        </a:rPr>
                        <a:t>$1.8B</a:t>
                      </a:r>
                    </a:p>
                  </a:txBody>
                  <a:tcPr marL="109728" marR="109728" marT="54864" marB="54864">
                    <a:solidFill>
                      <a:srgbClr val="EEF1F6"/>
                    </a:solidFill>
                  </a:tcPr>
                </a:tc>
                <a:tc>
                  <a:txBody>
                    <a:bodyPr wrap="square"/>
                    <a:lstStyle/>
                    <a:p>
                      <a:r>
                        <a:rPr sz="1500" b="0">
                          <a:solidFill>
                            <a:srgbClr val="14213D"/>
                          </a:solidFill>
                          <a:latin typeface="Arial"/>
                        </a:rPr>
                        <a:t>17.5%</a:t>
                      </a:r>
                    </a:p>
                  </a:txBody>
                  <a:tcPr marL="109728" marR="109728" marT="54864" marB="54864">
                    <a:solidFill>
                      <a:srgbClr val="EEF1F6"/>
                    </a:solidFill>
                  </a:tcPr>
                </a:tc>
              </a:tr>
              <a:tr h="411480">
                <a:tc>
                  <a:txBody>
                    <a:bodyPr wrap="square"/>
                    <a:lstStyle/>
                    <a:p>
                      <a:r>
                        <a:rPr sz="1500" b="1">
                          <a:solidFill>
                            <a:srgbClr val="14213D"/>
                          </a:solidFill>
                          <a:latin typeface="Arial"/>
                        </a:rPr>
                        <a:t>Value Market Research</a:t>
                      </a:r>
                    </a:p>
                  </a:txBody>
                  <a:tcPr marL="109728" marR="109728" marT="54864" marB="54864">
                    <a:solidFill>
                      <a:srgbClr val="FFFFFF"/>
                    </a:solidFill>
                  </a:tcPr>
                </a:tc>
                <a:tc>
                  <a:txBody>
                    <a:bodyPr wrap="square"/>
                    <a:lstStyle/>
                    <a:p>
                      <a:r>
                        <a:rPr sz="1500" b="0">
                          <a:solidFill>
                            <a:srgbClr val="14213D"/>
                          </a:solidFill>
                          <a:latin typeface="Arial"/>
                        </a:rPr>
                        <a:t>$1.41B</a:t>
                      </a:r>
                    </a:p>
                  </a:txBody>
                  <a:tcPr marL="109728" marR="109728" marT="54864" marB="54864">
                    <a:solidFill>
                      <a:srgbClr val="FFFFFF"/>
                    </a:solidFill>
                  </a:tcPr>
                </a:tc>
                <a:tc>
                  <a:txBody>
                    <a:bodyPr wrap="square"/>
                    <a:lstStyle/>
                    <a:p>
                      <a:r>
                        <a:rPr sz="1500" b="0">
                          <a:solidFill>
                            <a:srgbClr val="14213D"/>
                          </a:solidFill>
                          <a:latin typeface="Arial"/>
                        </a:rPr>
                        <a:t>22.83%</a:t>
                      </a:r>
                    </a:p>
                  </a:txBody>
                  <a:tcPr marL="109728" marR="109728" marT="54864" marB="54864">
                    <a:solidFill>
                      <a:srgbClr val="FFFFFF"/>
                    </a:solidFill>
                  </a:tcPr>
                </a:tc>
              </a:tr>
              <a:tr h="411480">
                <a:tc>
                  <a:txBody>
                    <a:bodyPr wrap="square"/>
                    <a:lstStyle/>
                    <a:p>
                      <a:r>
                        <a:rPr sz="1500" b="1">
                          <a:solidFill>
                            <a:srgbClr val="14213D"/>
                          </a:solidFill>
                          <a:latin typeface="Arial"/>
                        </a:rPr>
                        <a:t>Future Market Insights</a:t>
                      </a:r>
                    </a:p>
                  </a:txBody>
                  <a:tcPr marL="109728" marR="109728" marT="54864" marB="54864">
                    <a:solidFill>
                      <a:srgbClr val="EEF1F6"/>
                    </a:solidFill>
                  </a:tcPr>
                </a:tc>
                <a:tc>
                  <a:txBody>
                    <a:bodyPr wrap="square"/>
                    <a:lstStyle/>
                    <a:p>
                      <a:r>
                        <a:rPr sz="1500" b="0">
                          <a:solidFill>
                            <a:srgbClr val="14213D"/>
                          </a:solidFill>
                          <a:latin typeface="Arial"/>
                        </a:rPr>
                        <a:t>$973.8M</a:t>
                      </a:r>
                    </a:p>
                  </a:txBody>
                  <a:tcPr marL="109728" marR="109728" marT="54864" marB="54864">
                    <a:solidFill>
                      <a:srgbClr val="EEF1F6"/>
                    </a:solidFill>
                  </a:tcPr>
                </a:tc>
                <a:tc>
                  <a:txBody>
                    <a:bodyPr wrap="square"/>
                    <a:lstStyle/>
                    <a:p>
                      <a:r>
                        <a:rPr sz="1500" b="0">
                          <a:solidFill>
                            <a:srgbClr val="14213D"/>
                          </a:solidFill>
                          <a:latin typeface="Arial"/>
                        </a:rPr>
                        <a:t>22.6%</a:t>
                      </a:r>
                    </a:p>
                  </a:txBody>
                  <a:tcPr marL="109728" marR="109728" marT="54864" marB="54864">
                    <a:solidFill>
                      <a:srgbClr val="EEF1F6"/>
                    </a:solidFill>
                  </a:tcPr>
                </a:tc>
              </a:tr>
              <a:tr h="411480">
                <a:tc>
                  <a:txBody>
                    <a:bodyPr wrap="square"/>
                    <a:lstStyle/>
                    <a:p>
                      <a:r>
                        <a:rPr sz="1500" b="1">
                          <a:solidFill>
                            <a:srgbClr val="14213D"/>
                          </a:solidFill>
                          <a:latin typeface="Arial"/>
                        </a:rPr>
                        <a:t>Market Reports World</a:t>
                      </a:r>
                    </a:p>
                  </a:txBody>
                  <a:tcPr marL="109728" marR="109728" marT="54864" marB="54864">
                    <a:solidFill>
                      <a:srgbClr val="FFFFFF"/>
                    </a:solidFill>
                  </a:tcPr>
                </a:tc>
                <a:tc>
                  <a:txBody>
                    <a:bodyPr wrap="square"/>
                    <a:lstStyle/>
                    <a:p>
                      <a:r>
                        <a:rPr sz="1500" b="0">
                          <a:solidFill>
                            <a:srgbClr val="14213D"/>
                          </a:solidFill>
                          <a:latin typeface="Arial"/>
                        </a:rPr>
                        <a:t>$271.2M</a:t>
                      </a:r>
                    </a:p>
                  </a:txBody>
                  <a:tcPr marL="109728" marR="109728" marT="54864" marB="54864">
                    <a:solidFill>
                      <a:srgbClr val="FFFFFF"/>
                    </a:solidFill>
                  </a:tcPr>
                </a:tc>
                <a:tc>
                  <a:txBody>
                    <a:bodyPr wrap="square"/>
                    <a:lstStyle/>
                    <a:p>
                      <a:r>
                        <a:rPr sz="1500" b="0">
                          <a:solidFill>
                            <a:srgbClr val="14213D"/>
                          </a:solidFill>
                          <a:latin typeface="Arial"/>
                        </a:rPr>
                        <a:t>9.6%</a:t>
                      </a:r>
                    </a:p>
                  </a:txBody>
                  <a:tcPr marL="109728" marR="109728" marT="54864" marB="54864">
                    <a:solidFill>
                      <a:srgbClr val="FFFFFF"/>
                    </a:solidFill>
                  </a:tcPr>
                </a:tc>
              </a:tr>
            </a:tbl>
          </a:graphicData>
        </a:graphic>
      </p:graphicFrame>
      <p:sp>
        <p:nvSpPr>
          <p:cNvPr id="6" name="TextBox 5"/>
          <p:cNvSpPr txBox="1"/>
          <p:nvPr/>
        </p:nvSpPr>
        <p:spPr>
          <a:xfrm>
            <a:off x="822960" y="4572000"/>
            <a:ext cx="10545775" cy="640080"/>
          </a:xfrm>
          <a:prstGeom prst="rect">
            <a:avLst/>
          </a:prstGeom>
          <a:noFill/>
        </p:spPr>
        <p:txBody>
          <a:bodyPr wrap="square" lIns="0" rIns="0" tIns="0" bIns="0" anchor="t">
            <a:spAutoFit/>
          </a:bodyPr>
          <a:lstStyle/>
          <a:p>
            <a:pPr algn="l">
              <a:lnSpc>
                <a:spcPct val="115000"/>
              </a:lnSpc>
            </a:pPr>
            <a:r>
              <a:rPr sz="1600" b="0">
                <a:solidFill>
                  <a:srgbClr val="14213D"/>
                </a:solidFill>
                <a:latin typeface="Arial"/>
              </a:rPr>
              <a:t>Say it as a range: headless CMS is roughly $1–2B in 2025, growing in the high teens to low twenties percent a year. These are analyst estimates, not measured data.</a:t>
            </a:r>
          </a:p>
        </p:txBody>
      </p:sp>
      <p:sp>
        <p:nvSpPr>
          <p:cNvPr id="7" name="TextBox 6"/>
          <p:cNvSpPr txBox="1"/>
          <p:nvPr/>
        </p:nvSpPr>
        <p:spPr>
          <a:xfrm>
            <a:off x="822960" y="5349240"/>
            <a:ext cx="10545775" cy="640080"/>
          </a:xfrm>
          <a:prstGeom prst="rect">
            <a:avLst/>
          </a:prstGeom>
          <a:noFill/>
        </p:spPr>
        <p:txBody>
          <a:bodyPr wrap="square" lIns="0" rIns="0" tIns="0" bIns="0" anchor="t">
            <a:spAutoFit/>
          </a:bodyPr>
          <a:lstStyle/>
          <a:p>
            <a:pPr algn="l">
              <a:lnSpc>
                <a:spcPct val="115000"/>
              </a:lnSpc>
            </a:pPr>
            <a:r>
              <a:rPr sz="1350" b="0">
                <a:solidFill>
                  <a:srgbClr val="4A5568"/>
                </a:solidFill>
                <a:latin typeface="Arial"/>
              </a:rPr>
              <a:t>Signals that teams want an admin layer over their own database: Directus reports 45M+ downloads and 500K+ projects (self-reported), and Supabase was valued at $10.5B in June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2340"/>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EAF0F8"/>
                </a:solidFill>
                <a:latin typeface="Arial"/>
              </a:rPr>
              <a:t>Why now: open licences are being pulled back</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8FA6C4"/>
                </a:solidFill>
                <a:latin typeface="Arial"/>
              </a:rPr>
              <a:t>SethuCMS · Business case</a:t>
            </a:r>
          </a:p>
        </p:txBody>
      </p:sp>
      <p:sp>
        <p:nvSpPr>
          <p:cNvPr id="5" name="Rounded Rectangle 4"/>
          <p:cNvSpPr/>
          <p:nvPr/>
        </p:nvSpPr>
        <p:spPr>
          <a:xfrm>
            <a:off x="822960" y="1920240"/>
            <a:ext cx="3381146" cy="2651760"/>
          </a:xfrm>
          <a:prstGeom prst="roundRect">
            <a:avLst>
              <a:gd name="adj" fmla="val 6000"/>
            </a:avLst>
          </a:prstGeom>
          <a:solidFill>
            <a:srgbClr val="16345C"/>
          </a:solidFill>
          <a:ln w="19050">
            <a:solidFill>
              <a:srgbClr val="2F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21408"/>
            <a:ext cx="2923946" cy="548640"/>
          </a:xfrm>
          <a:prstGeom prst="rect">
            <a:avLst/>
          </a:prstGeom>
          <a:noFill/>
        </p:spPr>
        <p:txBody>
          <a:bodyPr wrap="square" lIns="0" rIns="0" tIns="0" bIns="0" anchor="t">
            <a:spAutoFit/>
          </a:bodyPr>
          <a:lstStyle/>
          <a:p>
            <a:pPr algn="l">
              <a:lnSpc>
                <a:spcPct val="115000"/>
              </a:lnSpc>
            </a:pPr>
            <a:r>
              <a:rPr sz="1900" b="1">
                <a:solidFill>
                  <a:srgbClr val="F2B84B"/>
                </a:solidFill>
                <a:latin typeface="Arial"/>
              </a:rPr>
              <a:t>Directus</a:t>
            </a:r>
          </a:p>
        </p:txBody>
      </p:sp>
      <p:sp>
        <p:nvSpPr>
          <p:cNvPr id="7" name="TextBox 6"/>
          <p:cNvSpPr txBox="1"/>
          <p:nvPr/>
        </p:nvSpPr>
        <p:spPr>
          <a:xfrm>
            <a:off x="1051560" y="2697480"/>
            <a:ext cx="2923946" cy="1737360"/>
          </a:xfrm>
          <a:prstGeom prst="rect">
            <a:avLst/>
          </a:prstGeom>
          <a:noFill/>
        </p:spPr>
        <p:txBody>
          <a:bodyPr wrap="square" lIns="0" rIns="0" tIns="0" bIns="0" anchor="t">
            <a:spAutoFit/>
          </a:bodyPr>
          <a:lstStyle/>
          <a:p>
            <a:pPr algn="l">
              <a:lnSpc>
                <a:spcPct val="115000"/>
              </a:lnSpc>
            </a:pPr>
            <a:r>
              <a:rPr sz="1500" b="0">
                <a:solidFill>
                  <a:srgbClr val="DCE6F2"/>
                </a:solidFill>
                <a:latin typeface="Arial"/>
              </a:rPr>
              <a:t>MIT, then BSL in April 2023, then a source-available licence with v12 in May 2026. Teams report licensing uncertainty as a reason to leave.</a:t>
            </a:r>
          </a:p>
        </p:txBody>
      </p:sp>
      <p:sp>
        <p:nvSpPr>
          <p:cNvPr id="8" name="Rounded Rectangle 7"/>
          <p:cNvSpPr/>
          <p:nvPr/>
        </p:nvSpPr>
        <p:spPr>
          <a:xfrm>
            <a:off x="4405274" y="1920240"/>
            <a:ext cx="3381146" cy="2651760"/>
          </a:xfrm>
          <a:prstGeom prst="roundRect">
            <a:avLst>
              <a:gd name="adj" fmla="val 6000"/>
            </a:avLst>
          </a:prstGeom>
          <a:solidFill>
            <a:srgbClr val="16345C"/>
          </a:solidFill>
          <a:ln w="19050">
            <a:solidFill>
              <a:srgbClr val="2F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3874" y="2121408"/>
            <a:ext cx="2923946" cy="548640"/>
          </a:xfrm>
          <a:prstGeom prst="rect">
            <a:avLst/>
          </a:prstGeom>
          <a:noFill/>
        </p:spPr>
        <p:txBody>
          <a:bodyPr wrap="square" lIns="0" rIns="0" tIns="0" bIns="0" anchor="t">
            <a:spAutoFit/>
          </a:bodyPr>
          <a:lstStyle/>
          <a:p>
            <a:pPr algn="l">
              <a:lnSpc>
                <a:spcPct val="115000"/>
              </a:lnSpc>
            </a:pPr>
            <a:r>
              <a:rPr sz="1900" b="1">
                <a:solidFill>
                  <a:srgbClr val="F2B84B"/>
                </a:solidFill>
                <a:latin typeface="Arial"/>
              </a:rPr>
              <a:t>NocoDB</a:t>
            </a:r>
          </a:p>
        </p:txBody>
      </p:sp>
      <p:sp>
        <p:nvSpPr>
          <p:cNvPr id="10" name="TextBox 9"/>
          <p:cNvSpPr txBox="1"/>
          <p:nvPr/>
        </p:nvSpPr>
        <p:spPr>
          <a:xfrm>
            <a:off x="4633874" y="2697480"/>
            <a:ext cx="2923946" cy="1737360"/>
          </a:xfrm>
          <a:prstGeom prst="rect">
            <a:avLst/>
          </a:prstGeom>
          <a:noFill/>
        </p:spPr>
        <p:txBody>
          <a:bodyPr wrap="square" lIns="0" rIns="0" tIns="0" bIns="0" anchor="t">
            <a:spAutoFit/>
          </a:bodyPr>
          <a:lstStyle/>
          <a:p>
            <a:pPr algn="l">
              <a:lnSpc>
                <a:spcPct val="115000"/>
              </a:lnSpc>
            </a:pPr>
            <a:r>
              <a:rPr sz="1500" b="0">
                <a:solidFill>
                  <a:srgbClr val="DCE6F2"/>
                </a:solidFill>
                <a:latin typeface="Arial"/>
              </a:rPr>
              <a:t>AGPL, then a fair-code licence on 9 January 2026. It is no longer an OSI open-source licence.</a:t>
            </a:r>
          </a:p>
        </p:txBody>
      </p:sp>
      <p:sp>
        <p:nvSpPr>
          <p:cNvPr id="11" name="Rounded Rectangle 10"/>
          <p:cNvSpPr/>
          <p:nvPr/>
        </p:nvSpPr>
        <p:spPr>
          <a:xfrm>
            <a:off x="7987588" y="1920240"/>
            <a:ext cx="3381146" cy="2651760"/>
          </a:xfrm>
          <a:prstGeom prst="roundRect">
            <a:avLst>
              <a:gd name="adj" fmla="val 6000"/>
            </a:avLst>
          </a:prstGeom>
          <a:solidFill>
            <a:srgbClr val="16345C"/>
          </a:solidFill>
          <a:ln w="19050">
            <a:solidFill>
              <a:srgbClr val="2F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6188" y="2121408"/>
            <a:ext cx="2923946" cy="548640"/>
          </a:xfrm>
          <a:prstGeom prst="rect">
            <a:avLst/>
          </a:prstGeom>
          <a:noFill/>
        </p:spPr>
        <p:txBody>
          <a:bodyPr wrap="square" lIns="0" rIns="0" tIns="0" bIns="0" anchor="t">
            <a:spAutoFit/>
          </a:bodyPr>
          <a:lstStyle/>
          <a:p>
            <a:pPr algn="l">
              <a:lnSpc>
                <a:spcPct val="115000"/>
              </a:lnSpc>
            </a:pPr>
            <a:r>
              <a:rPr sz="1900" b="1">
                <a:solidFill>
                  <a:srgbClr val="F2B84B"/>
                </a:solidFill>
                <a:latin typeface="Arial"/>
              </a:rPr>
              <a:t>Earlier cases</a:t>
            </a:r>
          </a:p>
        </p:txBody>
      </p:sp>
      <p:sp>
        <p:nvSpPr>
          <p:cNvPr id="13" name="TextBox 12"/>
          <p:cNvSpPr txBox="1"/>
          <p:nvPr/>
        </p:nvSpPr>
        <p:spPr>
          <a:xfrm>
            <a:off x="8216188" y="2697480"/>
            <a:ext cx="2923946" cy="1737360"/>
          </a:xfrm>
          <a:prstGeom prst="rect">
            <a:avLst/>
          </a:prstGeom>
          <a:noFill/>
        </p:spPr>
        <p:txBody>
          <a:bodyPr wrap="square" lIns="0" rIns="0" tIns="0" bIns="0" anchor="t">
            <a:spAutoFit/>
          </a:bodyPr>
          <a:lstStyle/>
          <a:p>
            <a:pPr algn="l">
              <a:lnSpc>
                <a:spcPct val="115000"/>
              </a:lnSpc>
            </a:pPr>
            <a:r>
              <a:rPr sz="1500" b="0">
                <a:solidFill>
                  <a:srgbClr val="DCE6F2"/>
                </a:solidFill>
                <a:latin typeface="Arial"/>
              </a:rPr>
              <a:t>Elastic, HashiCorp and Redis relicensed and the community forked: OpenSearch, OpenTofu, Valkey.</a:t>
            </a:r>
          </a:p>
        </p:txBody>
      </p:sp>
      <p:sp>
        <p:nvSpPr>
          <p:cNvPr id="14" name="TextBox 13"/>
          <p:cNvSpPr txBox="1"/>
          <p:nvPr/>
        </p:nvSpPr>
        <p:spPr>
          <a:xfrm>
            <a:off x="822960" y="4937760"/>
            <a:ext cx="10545775" cy="640080"/>
          </a:xfrm>
          <a:prstGeom prst="rect">
            <a:avLst/>
          </a:prstGeom>
          <a:noFill/>
        </p:spPr>
        <p:txBody>
          <a:bodyPr wrap="square" lIns="0" rIns="0" tIns="0" bIns="0" anchor="t">
            <a:spAutoFit/>
          </a:bodyPr>
          <a:lstStyle/>
          <a:p>
            <a:pPr algn="l">
              <a:lnSpc>
                <a:spcPct val="115000"/>
              </a:lnSpc>
            </a:pPr>
            <a:r>
              <a:rPr sz="1900" b="0">
                <a:solidFill>
                  <a:srgbClr val="F2B84B"/>
                </a:solidFill>
                <a:latin typeface="Arial"/>
              </a:rPr>
              <a:t>Lesson: relicensing after adoption breaks trust. SethuCMS commits to MIT for the core, permanently.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Who we compete with</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Business case</a:t>
            </a:r>
          </a:p>
        </p:txBody>
      </p:sp>
      <p:graphicFrame>
        <p:nvGraphicFramePr>
          <p:cNvPr id="5" name="Table 4"/>
          <p:cNvGraphicFramePr>
            <a:graphicFrameLocks noGrp="1"/>
          </p:cNvGraphicFramePr>
          <p:nvPr/>
        </p:nvGraphicFramePr>
        <p:xfrm>
          <a:off x="822960" y="1645920"/>
          <a:ext cx="10545774" cy="3200400"/>
        </p:xfrm>
        <a:graphic>
          <a:graphicData uri="http://schemas.openxmlformats.org/drawingml/2006/table">
            <a:tbl>
              <a:tblPr firstRow="1" bandRow="1">
                <a:tableStyleId>{5C22544A-7EE6-4342-B048-85BDC9FD1C3A}</a:tableStyleId>
              </a:tblPr>
              <a:tblGrid>
                <a:gridCol w="1898239"/>
                <a:gridCol w="4640141"/>
                <a:gridCol w="2530986"/>
                <a:gridCol w="1476408"/>
              </a:tblGrid>
              <a:tr h="457200">
                <a:tc>
                  <a:txBody>
                    <a:bodyPr wrap="square"/>
                    <a:lstStyle/>
                    <a:p>
                      <a:r>
                        <a:rPr sz="1400" b="1">
                          <a:solidFill>
                            <a:srgbClr val="FFFFFF"/>
                          </a:solidFill>
                          <a:latin typeface="Arial"/>
                        </a:rPr>
                        <a:t>Product</a:t>
                      </a:r>
                    </a:p>
                  </a:txBody>
                  <a:tcPr marL="109728" marR="109728" marT="54864" marB="54864">
                    <a:solidFill>
                      <a:srgbClr val="1F4E79"/>
                    </a:solidFill>
                  </a:tcPr>
                </a:tc>
                <a:tc>
                  <a:txBody>
                    <a:bodyPr wrap="square"/>
                    <a:lstStyle/>
                    <a:p>
                      <a:r>
                        <a:rPr sz="1400" b="1">
                          <a:solidFill>
                            <a:srgbClr val="FFFFFF"/>
                          </a:solidFill>
                          <a:latin typeface="Arial"/>
                        </a:rPr>
                        <a:t>What it does</a:t>
                      </a:r>
                    </a:p>
                  </a:txBody>
                  <a:tcPr marL="109728" marR="109728" marT="54864" marB="54864">
                    <a:solidFill>
                      <a:srgbClr val="1F4E79"/>
                    </a:solidFill>
                  </a:tcPr>
                </a:tc>
                <a:tc>
                  <a:txBody>
                    <a:bodyPr wrap="square"/>
                    <a:lstStyle/>
                    <a:p>
                      <a:r>
                        <a:rPr sz="1400" b="1">
                          <a:solidFill>
                            <a:srgbClr val="FFFFFF"/>
                          </a:solidFill>
                          <a:latin typeface="Arial"/>
                        </a:rPr>
                        <a:t>Licence</a:t>
                      </a:r>
                    </a:p>
                  </a:txBody>
                  <a:tcPr marL="109728" marR="109728" marT="54864" marB="54864">
                    <a:solidFill>
                      <a:srgbClr val="1F4E79"/>
                    </a:solidFill>
                  </a:tcPr>
                </a:tc>
                <a:tc>
                  <a:txBody>
                    <a:bodyPr wrap="square"/>
                    <a:lstStyle/>
                    <a:p>
                      <a:r>
                        <a:rPr sz="1400" b="1">
                          <a:solidFill>
                            <a:srgbClr val="FFFFFF"/>
                          </a:solidFill>
                          <a:latin typeface="Arial"/>
                        </a:rPr>
                        <a:t>Overlap</a:t>
                      </a:r>
                    </a:p>
                  </a:txBody>
                  <a:tcPr marL="109728" marR="109728" marT="54864" marB="54864">
                    <a:solidFill>
                      <a:srgbClr val="1F4E79"/>
                    </a:solidFill>
                  </a:tcPr>
                </a:tc>
              </a:tr>
              <a:tr h="457200">
                <a:tc>
                  <a:txBody>
                    <a:bodyPr wrap="square"/>
                    <a:lstStyle/>
                    <a:p>
                      <a:r>
                        <a:rPr sz="1400" b="1">
                          <a:solidFill>
                            <a:srgbClr val="14213D"/>
                          </a:solidFill>
                          <a:latin typeface="Arial"/>
                        </a:rPr>
                        <a:t>Directus</a:t>
                      </a:r>
                    </a:p>
                  </a:txBody>
                  <a:tcPr marL="109728" marR="109728" marT="54864" marB="54864">
                    <a:solidFill>
                      <a:srgbClr val="FFFFFF"/>
                    </a:solidFill>
                  </a:tcPr>
                </a:tc>
                <a:tc>
                  <a:txBody>
                    <a:bodyPr wrap="square"/>
                    <a:lstStyle/>
                    <a:p>
                      <a:r>
                        <a:rPr sz="1400" b="0">
                          <a:solidFill>
                            <a:srgbClr val="14213D"/>
                          </a:solidFill>
                          <a:latin typeface="Arial"/>
                        </a:rPr>
                        <a:t>Admin app and API over any SQL database</a:t>
                      </a:r>
                    </a:p>
                  </a:txBody>
                  <a:tcPr marL="109728" marR="109728" marT="54864" marB="54864">
                    <a:solidFill>
                      <a:srgbClr val="FFFFFF"/>
                    </a:solidFill>
                  </a:tcPr>
                </a:tc>
                <a:tc>
                  <a:txBody>
                    <a:bodyPr wrap="square"/>
                    <a:lstStyle/>
                    <a:p>
                      <a:r>
                        <a:rPr sz="1400" b="0">
                          <a:solidFill>
                            <a:srgbClr val="14213D"/>
                          </a:solidFill>
                          <a:latin typeface="Arial"/>
                        </a:rPr>
                        <a:t>Source-available (v12)</a:t>
                      </a:r>
                    </a:p>
                  </a:txBody>
                  <a:tcPr marL="109728" marR="109728" marT="54864" marB="54864">
                    <a:solidFill>
                      <a:srgbClr val="FFFFFF"/>
                    </a:solidFill>
                  </a:tcPr>
                </a:tc>
                <a:tc>
                  <a:txBody>
                    <a:bodyPr wrap="square"/>
                    <a:lstStyle/>
                    <a:p>
                      <a:r>
                        <a:rPr sz="1400" b="0">
                          <a:solidFill>
                            <a:srgbClr val="14213D"/>
                          </a:solidFill>
                          <a:latin typeface="Arial"/>
                        </a:rPr>
                        <a:t>Highest</a:t>
                      </a:r>
                    </a:p>
                  </a:txBody>
                  <a:tcPr marL="109728" marR="109728" marT="54864" marB="54864">
                    <a:solidFill>
                      <a:srgbClr val="FFFFFF"/>
                    </a:solidFill>
                  </a:tcPr>
                </a:tc>
              </a:tr>
              <a:tr h="457200">
                <a:tc>
                  <a:txBody>
                    <a:bodyPr wrap="square"/>
                    <a:lstStyle/>
                    <a:p>
                      <a:r>
                        <a:rPr sz="1400" b="1">
                          <a:solidFill>
                            <a:srgbClr val="14213D"/>
                          </a:solidFill>
                          <a:latin typeface="Arial"/>
                        </a:rPr>
                        <a:t>Payload</a:t>
                      </a:r>
                    </a:p>
                  </a:txBody>
                  <a:tcPr marL="109728" marR="109728" marT="54864" marB="54864">
                    <a:solidFill>
                      <a:srgbClr val="EEF1F6"/>
                    </a:solidFill>
                  </a:tcPr>
                </a:tc>
                <a:tc>
                  <a:txBody>
                    <a:bodyPr wrap="square"/>
                    <a:lstStyle/>
                    <a:p>
                      <a:r>
                        <a:rPr sz="1400" b="0">
                          <a:solidFill>
                            <a:srgbClr val="14213D"/>
                          </a:solidFill>
                          <a:latin typeface="Arial"/>
                        </a:rPr>
                        <a:t>Code-first CMS inside Next.js, now owned by Figma</a:t>
                      </a:r>
                    </a:p>
                  </a:txBody>
                  <a:tcPr marL="109728" marR="109728" marT="54864" marB="54864">
                    <a:solidFill>
                      <a:srgbClr val="EEF1F6"/>
                    </a:solidFill>
                  </a:tcPr>
                </a:tc>
                <a:tc>
                  <a:txBody>
                    <a:bodyPr wrap="square"/>
                    <a:lstStyle/>
                    <a:p>
                      <a:r>
                        <a:rPr sz="1400" b="0">
                          <a:solidFill>
                            <a:srgbClr val="14213D"/>
                          </a:solidFill>
                          <a:latin typeface="Arial"/>
                        </a:rPr>
                        <a:t>MIT</a:t>
                      </a:r>
                    </a:p>
                  </a:txBody>
                  <a:tcPr marL="109728" marR="109728" marT="54864" marB="54864">
                    <a:solidFill>
                      <a:srgbClr val="EEF1F6"/>
                    </a:solidFill>
                  </a:tcPr>
                </a:tc>
                <a:tc>
                  <a:txBody>
                    <a:bodyPr wrap="square"/>
                    <a:lstStyle/>
                    <a:p>
                      <a:r>
                        <a:rPr sz="1400" b="0">
                          <a:solidFill>
                            <a:srgbClr val="14213D"/>
                          </a:solidFill>
                          <a:latin typeface="Arial"/>
                        </a:rPr>
                        <a:t>High</a:t>
                      </a:r>
                    </a:p>
                  </a:txBody>
                  <a:tcPr marL="109728" marR="109728" marT="54864" marB="54864">
                    <a:solidFill>
                      <a:srgbClr val="EEF1F6"/>
                    </a:solidFill>
                  </a:tcPr>
                </a:tc>
              </a:tr>
              <a:tr h="457200">
                <a:tc>
                  <a:txBody>
                    <a:bodyPr wrap="square"/>
                    <a:lstStyle/>
                    <a:p>
                      <a:r>
                        <a:rPr sz="1400" b="1">
                          <a:solidFill>
                            <a:srgbClr val="14213D"/>
                          </a:solidFill>
                          <a:latin typeface="Arial"/>
                        </a:rPr>
                        <a:t>Hasura</a:t>
                      </a:r>
                    </a:p>
                  </a:txBody>
                  <a:tcPr marL="109728" marR="109728" marT="54864" marB="54864">
                    <a:solidFill>
                      <a:srgbClr val="FFFFFF"/>
                    </a:solidFill>
                  </a:tcPr>
                </a:tc>
                <a:tc>
                  <a:txBody>
                    <a:bodyPr wrap="square"/>
                    <a:lstStyle/>
                    <a:p>
                      <a:r>
                        <a:rPr sz="1400" b="0">
                          <a:solidFill>
                            <a:srgbClr val="14213D"/>
                          </a:solidFill>
                          <a:latin typeface="Arial"/>
                        </a:rPr>
                        <a:t>Instant API over your databases, no editor</a:t>
                      </a:r>
                    </a:p>
                  </a:txBody>
                  <a:tcPr marL="109728" marR="109728" marT="54864" marB="54864">
                    <a:solidFill>
                      <a:srgbClr val="FFFFFF"/>
                    </a:solidFill>
                  </a:tcPr>
                </a:tc>
                <a:tc>
                  <a:txBody>
                    <a:bodyPr wrap="square"/>
                    <a:lstStyle/>
                    <a:p>
                      <a:r>
                        <a:rPr sz="1400" b="0">
                          <a:solidFill>
                            <a:srgbClr val="14213D"/>
                          </a:solidFill>
                          <a:latin typeface="Arial"/>
                        </a:rPr>
                        <a:t>Varies by version</a:t>
                      </a:r>
                    </a:p>
                  </a:txBody>
                  <a:tcPr marL="109728" marR="109728" marT="54864" marB="54864">
                    <a:solidFill>
                      <a:srgbClr val="FFFFFF"/>
                    </a:solidFill>
                  </a:tcPr>
                </a:tc>
                <a:tc>
                  <a:txBody>
                    <a:bodyPr wrap="square"/>
                    <a:lstStyle/>
                    <a:p>
                      <a:r>
                        <a:rPr sz="1400" b="0">
                          <a:solidFill>
                            <a:srgbClr val="14213D"/>
                          </a:solidFill>
                          <a:latin typeface="Arial"/>
                        </a:rPr>
                        <a:t>Medium</a:t>
                      </a:r>
                    </a:p>
                  </a:txBody>
                  <a:tcPr marL="109728" marR="109728" marT="54864" marB="54864">
                    <a:solidFill>
                      <a:srgbClr val="FFFFFF"/>
                    </a:solidFill>
                  </a:tcPr>
                </a:tc>
              </a:tr>
              <a:tr h="457200">
                <a:tc>
                  <a:txBody>
                    <a:bodyPr wrap="square"/>
                    <a:lstStyle/>
                    <a:p>
                      <a:r>
                        <a:rPr sz="1400" b="1">
                          <a:solidFill>
                            <a:srgbClr val="14213D"/>
                          </a:solidFill>
                          <a:latin typeface="Arial"/>
                        </a:rPr>
                        <a:t>Strapi</a:t>
                      </a:r>
                    </a:p>
                  </a:txBody>
                  <a:tcPr marL="109728" marR="109728" marT="54864" marB="54864">
                    <a:solidFill>
                      <a:srgbClr val="EEF1F6"/>
                    </a:solidFill>
                  </a:tcPr>
                </a:tc>
                <a:tc>
                  <a:txBody>
                    <a:bodyPr wrap="square"/>
                    <a:lstStyle/>
                    <a:p>
                      <a:r>
                        <a:rPr sz="1400" b="0">
                          <a:solidFill>
                            <a:srgbClr val="14213D"/>
                          </a:solidFill>
                          <a:latin typeface="Arial"/>
                        </a:rPr>
                        <a:t>Node CMS that owns its own schema</a:t>
                      </a:r>
                    </a:p>
                  </a:txBody>
                  <a:tcPr marL="109728" marR="109728" marT="54864" marB="54864">
                    <a:solidFill>
                      <a:srgbClr val="EEF1F6"/>
                    </a:solidFill>
                  </a:tcPr>
                </a:tc>
                <a:tc>
                  <a:txBody>
                    <a:bodyPr wrap="square"/>
                    <a:lstStyle/>
                    <a:p>
                      <a:r>
                        <a:rPr sz="1400" b="0">
                          <a:solidFill>
                            <a:srgbClr val="14213D"/>
                          </a:solidFill>
                          <a:latin typeface="Arial"/>
                        </a:rPr>
                        <a:t>MIT plus paid tier</a:t>
                      </a:r>
                    </a:p>
                  </a:txBody>
                  <a:tcPr marL="109728" marR="109728" marT="54864" marB="54864">
                    <a:solidFill>
                      <a:srgbClr val="EEF1F6"/>
                    </a:solidFill>
                  </a:tcPr>
                </a:tc>
                <a:tc>
                  <a:txBody>
                    <a:bodyPr wrap="square"/>
                    <a:lstStyle/>
                    <a:p>
                      <a:r>
                        <a:rPr sz="1400" b="0">
                          <a:solidFill>
                            <a:srgbClr val="14213D"/>
                          </a:solidFill>
                          <a:latin typeface="Arial"/>
                        </a:rPr>
                        <a:t>Medium</a:t>
                      </a:r>
                    </a:p>
                  </a:txBody>
                  <a:tcPr marL="109728" marR="109728" marT="54864" marB="54864">
                    <a:solidFill>
                      <a:srgbClr val="EEF1F6"/>
                    </a:solidFill>
                  </a:tcPr>
                </a:tc>
              </a:tr>
              <a:tr h="457200">
                <a:tc>
                  <a:txBody>
                    <a:bodyPr wrap="square"/>
                    <a:lstStyle/>
                    <a:p>
                      <a:r>
                        <a:rPr sz="1400" b="1">
                          <a:solidFill>
                            <a:srgbClr val="14213D"/>
                          </a:solidFill>
                          <a:latin typeface="Arial"/>
                        </a:rPr>
                        <a:t>Supabase</a:t>
                      </a:r>
                    </a:p>
                  </a:txBody>
                  <a:tcPr marL="109728" marR="109728" marT="54864" marB="54864">
                    <a:solidFill>
                      <a:srgbClr val="FFFFFF"/>
                    </a:solidFill>
                  </a:tcPr>
                </a:tc>
                <a:tc>
                  <a:txBody>
                    <a:bodyPr wrap="square"/>
                    <a:lstStyle/>
                    <a:p>
                      <a:r>
                        <a:rPr sz="1400" b="0">
                          <a:solidFill>
                            <a:srgbClr val="14213D"/>
                          </a:solidFill>
                          <a:latin typeface="Arial"/>
                        </a:rPr>
                        <a:t>Postgres backend, security rules on Postgres only</a:t>
                      </a:r>
                    </a:p>
                  </a:txBody>
                  <a:tcPr marL="109728" marR="109728" marT="54864" marB="54864">
                    <a:solidFill>
                      <a:srgbClr val="FFFFFF"/>
                    </a:solidFill>
                  </a:tcPr>
                </a:tc>
                <a:tc>
                  <a:txBody>
                    <a:bodyPr wrap="square"/>
                    <a:lstStyle/>
                    <a:p>
                      <a:r>
                        <a:rPr sz="1400" b="0">
                          <a:solidFill>
                            <a:srgbClr val="14213D"/>
                          </a:solidFill>
                          <a:latin typeface="Arial"/>
                        </a:rPr>
                        <a:t>Open source</a:t>
                      </a:r>
                    </a:p>
                  </a:txBody>
                  <a:tcPr marL="109728" marR="109728" marT="54864" marB="54864">
                    <a:solidFill>
                      <a:srgbClr val="FFFFFF"/>
                    </a:solidFill>
                  </a:tcPr>
                </a:tc>
                <a:tc>
                  <a:txBody>
                    <a:bodyPr wrap="square"/>
                    <a:lstStyle/>
                    <a:p>
                      <a:r>
                        <a:rPr sz="1400" b="0">
                          <a:solidFill>
                            <a:srgbClr val="14213D"/>
                          </a:solidFill>
                          <a:latin typeface="Arial"/>
                        </a:rPr>
                        <a:t>Medium</a:t>
                      </a:r>
                    </a:p>
                  </a:txBody>
                  <a:tcPr marL="109728" marR="109728" marT="54864" marB="54864">
                    <a:solidFill>
                      <a:srgbClr val="FFFFFF"/>
                    </a:solidFill>
                  </a:tcPr>
                </a:tc>
              </a:tr>
              <a:tr h="457200">
                <a:tc>
                  <a:txBody>
                    <a:bodyPr wrap="square"/>
                    <a:lstStyle/>
                    <a:p>
                      <a:r>
                        <a:rPr sz="1400" b="1">
                          <a:solidFill>
                            <a:srgbClr val="14213D"/>
                          </a:solidFill>
                          <a:latin typeface="Arial"/>
                        </a:rPr>
                        <a:t>Sanity, Contentful</a:t>
                      </a:r>
                    </a:p>
                  </a:txBody>
                  <a:tcPr marL="109728" marR="109728" marT="54864" marB="54864">
                    <a:solidFill>
                      <a:srgbClr val="EEF1F6"/>
                    </a:solidFill>
                  </a:tcPr>
                </a:tc>
                <a:tc>
                  <a:txBody>
                    <a:bodyPr wrap="square"/>
                    <a:lstStyle/>
                    <a:p>
                      <a:r>
                        <a:rPr sz="1400" b="0">
                          <a:solidFill>
                            <a:srgbClr val="14213D"/>
                          </a:solidFill>
                          <a:latin typeface="Arial"/>
                        </a:rPr>
                        <a:t>Hosted content platforms</a:t>
                      </a:r>
                    </a:p>
                  </a:txBody>
                  <a:tcPr marL="109728" marR="109728" marT="54864" marB="54864">
                    <a:solidFill>
                      <a:srgbClr val="EEF1F6"/>
                    </a:solidFill>
                  </a:tcPr>
                </a:tc>
                <a:tc>
                  <a:txBody>
                    <a:bodyPr wrap="square"/>
                    <a:lstStyle/>
                    <a:p>
                      <a:r>
                        <a:rPr sz="1400" b="0">
                          <a:solidFill>
                            <a:srgbClr val="14213D"/>
                          </a:solidFill>
                          <a:latin typeface="Arial"/>
                        </a:rPr>
                        <a:t>Proprietary</a:t>
                      </a:r>
                    </a:p>
                  </a:txBody>
                  <a:tcPr marL="109728" marR="109728" marT="54864" marB="54864">
                    <a:solidFill>
                      <a:srgbClr val="EEF1F6"/>
                    </a:solidFill>
                  </a:tcPr>
                </a:tc>
                <a:tc>
                  <a:txBody>
                    <a:bodyPr wrap="square"/>
                    <a:lstStyle/>
                    <a:p>
                      <a:r>
                        <a:rPr sz="1400" b="0">
                          <a:solidFill>
                            <a:srgbClr val="14213D"/>
                          </a:solidFill>
                          <a:latin typeface="Arial"/>
                        </a:rPr>
                        <a:t>Low</a:t>
                      </a:r>
                    </a:p>
                  </a:txBody>
                  <a:tcPr marL="109728" marR="109728" marT="54864" marB="54864">
                    <a:solidFill>
                      <a:srgbClr val="EEF1F6"/>
                    </a:solidFill>
                  </a:tcPr>
                </a:tc>
              </a:tr>
            </a:tbl>
          </a:graphicData>
        </a:graphic>
      </p:graphicFrame>
      <p:sp>
        <p:nvSpPr>
          <p:cNvPr id="6" name="TextBox 5"/>
          <p:cNvSpPr txBox="1"/>
          <p:nvPr/>
        </p:nvSpPr>
        <p:spPr>
          <a:xfrm>
            <a:off x="822960" y="5303520"/>
            <a:ext cx="10545775" cy="640080"/>
          </a:xfrm>
          <a:prstGeom prst="rect">
            <a:avLst/>
          </a:prstGeom>
          <a:noFill/>
        </p:spPr>
        <p:txBody>
          <a:bodyPr wrap="square" lIns="0" rIns="0" tIns="0" bIns="0" anchor="t">
            <a:spAutoFit/>
          </a:bodyPr>
          <a:lstStyle/>
          <a:p>
            <a:pPr algn="l">
              <a:lnSpc>
                <a:spcPct val="115000"/>
              </a:lnSpc>
            </a:pPr>
            <a:r>
              <a:rPr sz="1500" b="0">
                <a:solidFill>
                  <a:srgbClr val="4A5568"/>
                </a:solidFill>
                <a:latin typeface="Arial"/>
              </a:rPr>
              <a:t>We will not win on CMS features. Directus already has drafts, publish and permissions; Payload has versioning and access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Where SethuCMS fits</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Business case</a:t>
            </a:r>
          </a:p>
        </p:txBody>
      </p:sp>
      <p:sp>
        <p:nvSpPr>
          <p:cNvPr id="5" name="Rounded Rectangle 4"/>
          <p:cNvSpPr/>
          <p:nvPr/>
        </p:nvSpPr>
        <p:spPr>
          <a:xfrm>
            <a:off x="822960" y="1920240"/>
            <a:ext cx="3381146" cy="228600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21408"/>
            <a:ext cx="2923946"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MIT, for good</a:t>
            </a:r>
          </a:p>
        </p:txBody>
      </p:sp>
      <p:sp>
        <p:nvSpPr>
          <p:cNvPr id="7" name="TextBox 6"/>
          <p:cNvSpPr txBox="1"/>
          <p:nvPr/>
        </p:nvSpPr>
        <p:spPr>
          <a:xfrm>
            <a:off x="1051560" y="2697480"/>
            <a:ext cx="2923946" cy="1371600"/>
          </a:xfrm>
          <a:prstGeom prst="rect">
            <a:avLst/>
          </a:prstGeom>
          <a:noFill/>
        </p:spPr>
        <p:txBody>
          <a:bodyPr wrap="square" lIns="0" rIns="0" tIns="0" bIns="0" anchor="t">
            <a:spAutoFit/>
          </a:bodyPr>
          <a:lstStyle/>
          <a:p>
            <a:pPr algn="l">
              <a:lnSpc>
                <a:spcPct val="115000"/>
              </a:lnSpc>
            </a:pPr>
            <a:r>
              <a:rPr sz="1450" b="0">
                <a:solidFill>
                  <a:srgbClr val="4A5568"/>
                </a:solidFill>
                <a:latin typeface="Arial"/>
              </a:rPr>
              <a:t>The core stays MIT, including permissions, audit log and single sign-on already shipped.</a:t>
            </a:r>
          </a:p>
        </p:txBody>
      </p:sp>
      <p:sp>
        <p:nvSpPr>
          <p:cNvPr id="8" name="Rounded Rectangle 7"/>
          <p:cNvSpPr/>
          <p:nvPr/>
        </p:nvSpPr>
        <p:spPr>
          <a:xfrm>
            <a:off x="4405274" y="1920240"/>
            <a:ext cx="3381146" cy="228600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3874" y="2121408"/>
            <a:ext cx="2923946"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One security model</a:t>
            </a:r>
          </a:p>
        </p:txBody>
      </p:sp>
      <p:sp>
        <p:nvSpPr>
          <p:cNvPr id="10" name="TextBox 9"/>
          <p:cNvSpPr txBox="1"/>
          <p:nvPr/>
        </p:nvSpPr>
        <p:spPr>
          <a:xfrm>
            <a:off x="4633874" y="2697480"/>
            <a:ext cx="2923946" cy="1371600"/>
          </a:xfrm>
          <a:prstGeom prst="rect">
            <a:avLst/>
          </a:prstGeom>
          <a:noFill/>
        </p:spPr>
        <p:txBody>
          <a:bodyPr wrap="square" lIns="0" rIns="0" tIns="0" bIns="0" anchor="t">
            <a:spAutoFit/>
          </a:bodyPr>
          <a:lstStyle/>
          <a:p>
            <a:pPr algn="l">
              <a:lnSpc>
                <a:spcPct val="115000"/>
              </a:lnSpc>
            </a:pPr>
            <a:r>
              <a:rPr sz="1450" b="0">
                <a:solidFill>
                  <a:srgbClr val="4A5568"/>
                </a:solidFill>
                <a:latin typeface="Arial"/>
              </a:rPr>
              <a:t>The same field masking, row filters and audit log over SQL and document databases. Directus is SQL only.</a:t>
            </a:r>
          </a:p>
        </p:txBody>
      </p:sp>
      <p:sp>
        <p:nvSpPr>
          <p:cNvPr id="11" name="Rounded Rectangle 10"/>
          <p:cNvSpPr/>
          <p:nvPr/>
        </p:nvSpPr>
        <p:spPr>
          <a:xfrm>
            <a:off x="7987588" y="1920240"/>
            <a:ext cx="3381146" cy="228600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6188" y="2121408"/>
            <a:ext cx="2923946"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Vendor portals</a:t>
            </a:r>
          </a:p>
        </p:txBody>
      </p:sp>
      <p:sp>
        <p:nvSpPr>
          <p:cNvPr id="13" name="TextBox 12"/>
          <p:cNvSpPr txBox="1"/>
          <p:nvPr/>
        </p:nvSpPr>
        <p:spPr>
          <a:xfrm>
            <a:off x="8216188" y="2697480"/>
            <a:ext cx="2923946" cy="1371600"/>
          </a:xfrm>
          <a:prstGeom prst="rect">
            <a:avLst/>
          </a:prstGeom>
          <a:noFill/>
        </p:spPr>
        <p:txBody>
          <a:bodyPr wrap="square" lIns="0" rIns="0" tIns="0" bIns="0" anchor="t">
            <a:spAutoFit/>
          </a:bodyPr>
          <a:lstStyle/>
          <a:p>
            <a:pPr algn="l">
              <a:lnSpc>
                <a:spcPct val="115000"/>
              </a:lnSpc>
            </a:pPr>
            <a:r>
              <a:rPr sz="1450" b="0">
                <a:solidFill>
                  <a:srgbClr val="4A5568"/>
                </a:solidFill>
                <a:latin typeface="Arial"/>
              </a:rPr>
              <a:t>Vendors edit only their own rows, admins oversee, every action is audited. A use case, not a technical first.</a:t>
            </a:r>
          </a:p>
        </p:txBody>
      </p:sp>
      <p:sp>
        <p:nvSpPr>
          <p:cNvPr id="14" name="Rounded Rectangle 13"/>
          <p:cNvSpPr/>
          <p:nvPr/>
        </p:nvSpPr>
        <p:spPr>
          <a:xfrm>
            <a:off x="822960" y="4434840"/>
            <a:ext cx="10545775" cy="1463040"/>
          </a:xfrm>
          <a:prstGeom prst="roundRect">
            <a:avLst>
              <a:gd name="adj" fmla="val 6000"/>
            </a:avLst>
          </a:prstGeom>
          <a:solidFill>
            <a:srgbClr val="FFFFFF"/>
          </a:solidFill>
          <a:ln w="19050">
            <a:solidFill>
              <a:srgbClr val="9A5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572000"/>
            <a:ext cx="7315200" cy="365760"/>
          </a:xfrm>
          <a:prstGeom prst="rect">
            <a:avLst/>
          </a:prstGeom>
          <a:noFill/>
        </p:spPr>
        <p:txBody>
          <a:bodyPr wrap="square" lIns="0" rIns="0" tIns="0" bIns="0" anchor="t">
            <a:spAutoFit/>
          </a:bodyPr>
          <a:lstStyle/>
          <a:p>
            <a:pPr algn="l">
              <a:lnSpc>
                <a:spcPct val="115000"/>
              </a:lnSpc>
            </a:pPr>
            <a:r>
              <a:rPr sz="1800" b="1">
                <a:solidFill>
                  <a:srgbClr val="9A5B00"/>
                </a:solidFill>
                <a:latin typeface="Arial"/>
              </a:rPr>
              <a:t>Where we are weaker</a:t>
            </a:r>
          </a:p>
        </p:txBody>
      </p:sp>
      <p:sp>
        <p:nvSpPr>
          <p:cNvPr id="16" name="TextBox 15"/>
          <p:cNvSpPr txBox="1"/>
          <p:nvPr/>
        </p:nvSpPr>
        <p:spPr>
          <a:xfrm>
            <a:off x="1097280" y="5029200"/>
            <a:ext cx="9997135" cy="822960"/>
          </a:xfrm>
          <a:prstGeom prst="rect">
            <a:avLst/>
          </a:prstGeom>
          <a:noFill/>
        </p:spPr>
        <p:txBody>
          <a:bodyPr wrap="square" lIns="0" rIns="0" tIns="0" bIns="0" anchor="t">
            <a:spAutoFit/>
          </a:bodyPr>
          <a:lstStyle/>
          <a:p>
            <a:pPr algn="l">
              <a:lnSpc>
                <a:spcPct val="115000"/>
              </a:lnSpc>
            </a:pPr>
            <a:r>
              <a:rPr sz="1500" b="0">
                <a:solidFill>
                  <a:srgbClr val="14213D"/>
                </a:solidFill>
                <a:latin typeface="Arial"/>
              </a:rPr>
              <a:t>No users yet. One maintainer. MongoDB and Firestore not verified on real servers. No hosted option. No external security audit.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How it works for an online store</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Business case</a:t>
            </a:r>
          </a:p>
        </p:txBody>
      </p:sp>
      <p:sp>
        <p:nvSpPr>
          <p:cNvPr id="5" name="Rounded Rectangle 4"/>
          <p:cNvSpPr/>
          <p:nvPr/>
        </p:nvSpPr>
        <p:spPr>
          <a:xfrm>
            <a:off x="822960" y="1920240"/>
            <a:ext cx="3381146" cy="320040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21408"/>
            <a:ext cx="2923946"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Where the data lives</a:t>
            </a:r>
          </a:p>
        </p:txBody>
      </p:sp>
      <p:sp>
        <p:nvSpPr>
          <p:cNvPr id="7" name="TextBox 6"/>
          <p:cNvSpPr txBox="1"/>
          <p:nvPr/>
        </p:nvSpPr>
        <p:spPr>
          <a:xfrm>
            <a:off x="1051560" y="2697480"/>
            <a:ext cx="2923946" cy="2286000"/>
          </a:xfrm>
          <a:prstGeom prst="rect">
            <a:avLst/>
          </a:prstGeom>
          <a:noFill/>
        </p:spPr>
        <p:txBody>
          <a:bodyPr wrap="square" lIns="0" rIns="0" tIns="0" bIns="0">
            <a:spAutoFit/>
          </a:bodyPr>
          <a:lstStyle/>
          <a:p>
            <a:pPr>
              <a:lnSpc>
                <a:spcPct val="110000"/>
              </a:lnSpc>
              <a:spcAft>
                <a:spcPts val="500"/>
              </a:spcAft>
            </a:pPr>
            <a:r>
              <a:rPr sz="1450">
                <a:solidFill>
                  <a:srgbClr val="14213D"/>
                </a:solidFill>
                <a:latin typeface="Arial"/>
              </a:rPr>
              <a:t>•  Products and prices in Firestore</a:t>
            </a:r>
          </a:p>
          <a:p>
            <a:pPr>
              <a:lnSpc>
                <a:spcPct val="110000"/>
              </a:lnSpc>
              <a:spcAft>
                <a:spcPts val="500"/>
              </a:spcAft>
            </a:pPr>
            <a:r>
              <a:rPr sz="1450">
                <a:solidFill>
                  <a:srgbClr val="14213D"/>
                </a:solidFill>
                <a:latin typeface="Arial"/>
              </a:rPr>
              <a:t>•  Orders and customers in PostgreSQL</a:t>
            </a:r>
          </a:p>
          <a:p>
            <a:pPr>
              <a:lnSpc>
                <a:spcPct val="110000"/>
              </a:lnSpc>
              <a:spcAft>
                <a:spcPts val="500"/>
              </a:spcAft>
            </a:pPr>
            <a:r>
              <a:rPr sz="1450">
                <a:solidFill>
                  <a:srgbClr val="14213D"/>
                </a:solidFill>
                <a:latin typeface="Arial"/>
              </a:rPr>
              <a:t>•  Nothing is moved or copied</a:t>
            </a:r>
          </a:p>
        </p:txBody>
      </p:sp>
      <p:sp>
        <p:nvSpPr>
          <p:cNvPr id="8" name="Rounded Rectangle 7"/>
          <p:cNvSpPr/>
          <p:nvPr/>
        </p:nvSpPr>
        <p:spPr>
          <a:xfrm>
            <a:off x="4405274" y="1920240"/>
            <a:ext cx="3381146" cy="320040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3874" y="2121408"/>
            <a:ext cx="2923946"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What SethuCMS does</a:t>
            </a:r>
          </a:p>
        </p:txBody>
      </p:sp>
      <p:sp>
        <p:nvSpPr>
          <p:cNvPr id="10" name="TextBox 9"/>
          <p:cNvSpPr txBox="1"/>
          <p:nvPr/>
        </p:nvSpPr>
        <p:spPr>
          <a:xfrm>
            <a:off x="4633874" y="2697480"/>
            <a:ext cx="2923946" cy="2286000"/>
          </a:xfrm>
          <a:prstGeom prst="rect">
            <a:avLst/>
          </a:prstGeom>
          <a:noFill/>
        </p:spPr>
        <p:txBody>
          <a:bodyPr wrap="square" lIns="0" rIns="0" tIns="0" bIns="0">
            <a:spAutoFit/>
          </a:bodyPr>
          <a:lstStyle/>
          <a:p>
            <a:pPr>
              <a:lnSpc>
                <a:spcPct val="110000"/>
              </a:lnSpc>
              <a:spcAft>
                <a:spcPts val="500"/>
              </a:spcAft>
            </a:pPr>
            <a:r>
              <a:rPr sz="1450">
                <a:solidFill>
                  <a:srgbClr val="14213D"/>
                </a:solidFill>
                <a:latin typeface="Arial"/>
              </a:rPr>
              <a:t>•  Connects both as read-only</a:t>
            </a:r>
          </a:p>
          <a:p>
            <a:pPr>
              <a:lnSpc>
                <a:spcPct val="110000"/>
              </a:lnSpc>
              <a:spcAft>
                <a:spcPts val="500"/>
              </a:spcAft>
            </a:pPr>
            <a:r>
              <a:rPr sz="1450">
                <a:solidFill>
                  <a:srgbClr val="14213D"/>
                </a:solidFill>
                <a:latin typeface="Arial"/>
              </a:rPr>
              <a:t>•  Shows editors only the products collection</a:t>
            </a:r>
          </a:p>
          <a:p>
            <a:pPr>
              <a:lnSpc>
                <a:spcPct val="110000"/>
              </a:lnSpc>
              <a:spcAft>
                <a:spcPts val="500"/>
              </a:spcAft>
            </a:pPr>
            <a:r>
              <a:rPr sz="1450">
                <a:solidFill>
                  <a:srgbClr val="14213D"/>
                </a:solidFill>
                <a:latin typeface="Arial"/>
              </a:rPr>
              <a:t>•  Orders and customers stay hidden</a:t>
            </a:r>
          </a:p>
          <a:p>
            <a:pPr>
              <a:lnSpc>
                <a:spcPct val="110000"/>
              </a:lnSpc>
              <a:spcAft>
                <a:spcPts val="500"/>
              </a:spcAft>
            </a:pPr>
            <a:r>
              <a:rPr sz="1450">
                <a:solidFill>
                  <a:srgbClr val="14213D"/>
                </a:solidFill>
                <a:latin typeface="Arial"/>
              </a:rPr>
              <a:t>•  Edits are drafts until someone clicks Publish</a:t>
            </a:r>
          </a:p>
        </p:txBody>
      </p:sp>
      <p:sp>
        <p:nvSpPr>
          <p:cNvPr id="11" name="Rounded Rectangle 10"/>
          <p:cNvSpPr/>
          <p:nvPr/>
        </p:nvSpPr>
        <p:spPr>
          <a:xfrm>
            <a:off x="7987588" y="1920240"/>
            <a:ext cx="3381146" cy="320040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6188" y="2121408"/>
            <a:ext cx="2923946"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What the store gets</a:t>
            </a:r>
          </a:p>
        </p:txBody>
      </p:sp>
      <p:sp>
        <p:nvSpPr>
          <p:cNvPr id="13" name="TextBox 12"/>
          <p:cNvSpPr txBox="1"/>
          <p:nvPr/>
        </p:nvSpPr>
        <p:spPr>
          <a:xfrm>
            <a:off x="8216188" y="2697480"/>
            <a:ext cx="2923946" cy="2286000"/>
          </a:xfrm>
          <a:prstGeom prst="rect">
            <a:avLst/>
          </a:prstGeom>
          <a:noFill/>
        </p:spPr>
        <p:txBody>
          <a:bodyPr wrap="square" lIns="0" rIns="0" tIns="0" bIns="0">
            <a:spAutoFit/>
          </a:bodyPr>
          <a:lstStyle/>
          <a:p>
            <a:pPr>
              <a:lnSpc>
                <a:spcPct val="110000"/>
              </a:lnSpc>
              <a:spcAft>
                <a:spcPts val="500"/>
              </a:spcAft>
            </a:pPr>
            <a:r>
              <a:rPr sz="1450">
                <a:solidFill>
                  <a:srgbClr val="14213D"/>
                </a:solidFill>
                <a:latin typeface="Arial"/>
              </a:rPr>
              <a:t>•  One API and a viewer token on the server</a:t>
            </a:r>
          </a:p>
          <a:p>
            <a:pPr>
              <a:lnSpc>
                <a:spcPct val="110000"/>
              </a:lnSpc>
              <a:spcAft>
                <a:spcPts val="500"/>
              </a:spcAft>
            </a:pPr>
            <a:r>
              <a:rPr sz="1450">
                <a:solidFill>
                  <a:srgbClr val="14213D"/>
                </a:solidFill>
                <a:latin typeface="Arial"/>
              </a:rPr>
              <a:t>•  No database drivers or keys in the website</a:t>
            </a:r>
          </a:p>
          <a:p>
            <a:pPr>
              <a:lnSpc>
                <a:spcPct val="110000"/>
              </a:lnSpc>
              <a:spcAft>
                <a:spcPts val="500"/>
              </a:spcAft>
            </a:pPr>
            <a:r>
              <a:rPr sz="1450">
                <a:solidFill>
                  <a:srgbClr val="14213D"/>
                </a:solidFill>
                <a:latin typeface="Arial"/>
              </a:rPr>
              <a:t>•  Every change in the audit log</a:t>
            </a:r>
          </a:p>
        </p:txBody>
      </p:sp>
      <p:sp>
        <p:nvSpPr>
          <p:cNvPr id="14" name="TextBox 13"/>
          <p:cNvSpPr txBox="1"/>
          <p:nvPr/>
        </p:nvSpPr>
        <p:spPr>
          <a:xfrm>
            <a:off x="822960" y="5349240"/>
            <a:ext cx="10545775" cy="640080"/>
          </a:xfrm>
          <a:prstGeom prst="rect">
            <a:avLst/>
          </a:prstGeom>
          <a:noFill/>
        </p:spPr>
        <p:txBody>
          <a:bodyPr wrap="square" lIns="0" rIns="0" tIns="0" bIns="0" anchor="t">
            <a:spAutoFit/>
          </a:bodyPr>
          <a:lstStyle/>
          <a:p>
            <a:pPr algn="l">
              <a:lnSpc>
                <a:spcPct val="115000"/>
              </a:lnSpc>
            </a:pPr>
            <a:r>
              <a:rPr sz="1500" b="0">
                <a:solidFill>
                  <a:srgbClr val="4A5568"/>
                </a:solidFill>
                <a:latin typeface="Arial"/>
              </a:rPr>
              <a:t>Illustration only: SethuCMS has no customers yet. Vendor and business dashboards for marketplaces are planned, not built.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The same pattern for other kinds of company</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Business case</a:t>
            </a:r>
          </a:p>
        </p:txBody>
      </p:sp>
      <p:graphicFrame>
        <p:nvGraphicFramePr>
          <p:cNvPr id="5" name="Table 4"/>
          <p:cNvGraphicFramePr>
            <a:graphicFrameLocks noGrp="1"/>
          </p:cNvGraphicFramePr>
          <p:nvPr/>
        </p:nvGraphicFramePr>
        <p:xfrm>
          <a:off x="822960" y="1737360"/>
          <a:ext cx="10545774" cy="3657600"/>
        </p:xfrm>
        <a:graphic>
          <a:graphicData uri="http://schemas.openxmlformats.org/drawingml/2006/table">
            <a:tbl>
              <a:tblPr firstRow="1" bandRow="1">
                <a:tableStyleId>{5C22544A-7EE6-4342-B048-85BDC9FD1C3A}</a:tableStyleId>
              </a:tblPr>
              <a:tblGrid>
                <a:gridCol w="2320070"/>
                <a:gridCol w="3585563"/>
                <a:gridCol w="4640141"/>
              </a:tblGrid>
              <a:tr h="731520">
                <a:tc>
                  <a:txBody>
                    <a:bodyPr wrap="square"/>
                    <a:lstStyle/>
                    <a:p>
                      <a:r>
                        <a:rPr sz="1500" b="1">
                          <a:solidFill>
                            <a:srgbClr val="FFFFFF"/>
                          </a:solidFill>
                          <a:latin typeface="Arial"/>
                        </a:rPr>
                        <a:t>Company</a:t>
                      </a:r>
                    </a:p>
                  </a:txBody>
                  <a:tcPr marL="109728" marR="109728" marT="54864" marB="54864">
                    <a:solidFill>
                      <a:srgbClr val="1F4E79"/>
                    </a:solidFill>
                  </a:tcPr>
                </a:tc>
                <a:tc>
                  <a:txBody>
                    <a:bodyPr wrap="square"/>
                    <a:lstStyle/>
                    <a:p>
                      <a:r>
                        <a:rPr sz="1500" b="1">
                          <a:solidFill>
                            <a:srgbClr val="FFFFFF"/>
                          </a:solidFill>
                          <a:latin typeface="Arial"/>
                        </a:rPr>
                        <a:t>Typical databases</a:t>
                      </a:r>
                    </a:p>
                  </a:txBody>
                  <a:tcPr marL="109728" marR="109728" marT="54864" marB="54864">
                    <a:solidFill>
                      <a:srgbClr val="1F4E79"/>
                    </a:solidFill>
                  </a:tcPr>
                </a:tc>
                <a:tc>
                  <a:txBody>
                    <a:bodyPr wrap="square"/>
                    <a:lstStyle/>
                    <a:p>
                      <a:r>
                        <a:rPr sz="1500" b="1">
                          <a:solidFill>
                            <a:srgbClr val="FFFFFF"/>
                          </a:solidFill>
                          <a:latin typeface="Arial"/>
                        </a:rPr>
                        <a:t>What SethuCMS adds</a:t>
                      </a:r>
                    </a:p>
                  </a:txBody>
                  <a:tcPr marL="109728" marR="109728" marT="54864" marB="54864">
                    <a:solidFill>
                      <a:srgbClr val="1F4E79"/>
                    </a:solidFill>
                  </a:tcPr>
                </a:tc>
              </a:tr>
              <a:tr h="731520">
                <a:tc>
                  <a:txBody>
                    <a:bodyPr wrap="square"/>
                    <a:lstStyle/>
                    <a:p>
                      <a:r>
                        <a:rPr sz="1500" b="1">
                          <a:solidFill>
                            <a:srgbClr val="14213D"/>
                          </a:solidFill>
                          <a:latin typeface="Arial"/>
                        </a:rPr>
                        <a:t>SaaS startup</a:t>
                      </a:r>
                    </a:p>
                  </a:txBody>
                  <a:tcPr marL="109728" marR="109728" marT="54864" marB="54864">
                    <a:solidFill>
                      <a:srgbClr val="FFFFFF"/>
                    </a:solidFill>
                  </a:tcPr>
                </a:tc>
                <a:tc>
                  <a:txBody>
                    <a:bodyPr wrap="square"/>
                    <a:lstStyle/>
                    <a:p>
                      <a:r>
                        <a:rPr sz="1500" b="0">
                          <a:solidFill>
                            <a:srgbClr val="14213D"/>
                          </a:solidFill>
                          <a:latin typeface="Arial"/>
                        </a:rPr>
                        <a:t>PostgreSQL for the app, MongoDB for logs and content</a:t>
                      </a:r>
                    </a:p>
                  </a:txBody>
                  <a:tcPr marL="109728" marR="109728" marT="54864" marB="54864">
                    <a:solidFill>
                      <a:srgbClr val="FFFFFF"/>
                    </a:solidFill>
                  </a:tcPr>
                </a:tc>
                <a:tc>
                  <a:txBody>
                    <a:bodyPr wrap="square"/>
                    <a:lstStyle/>
                    <a:p>
                      <a:r>
                        <a:rPr sz="1500" b="0">
                          <a:solidFill>
                            <a:srgbClr val="14213D"/>
                          </a:solidFill>
                          <a:latin typeface="Arial"/>
                        </a:rPr>
                        <a:t>One admin app for support and content teams, without database logins</a:t>
                      </a:r>
                    </a:p>
                  </a:txBody>
                  <a:tcPr marL="109728" marR="109728" marT="54864" marB="54864">
                    <a:solidFill>
                      <a:srgbClr val="FFFFFF"/>
                    </a:solidFill>
                  </a:tcPr>
                </a:tc>
              </a:tr>
              <a:tr h="731520">
                <a:tc>
                  <a:txBody>
                    <a:bodyPr wrap="square"/>
                    <a:lstStyle/>
                    <a:p>
                      <a:r>
                        <a:rPr sz="1500" b="1">
                          <a:solidFill>
                            <a:srgbClr val="14213D"/>
                          </a:solidFill>
                          <a:latin typeface="Arial"/>
                        </a:rPr>
                        <a:t>Publisher or blog</a:t>
                      </a:r>
                    </a:p>
                  </a:txBody>
                  <a:tcPr marL="109728" marR="109728" marT="54864" marB="54864">
                    <a:solidFill>
                      <a:srgbClr val="EEF1F6"/>
                    </a:solidFill>
                  </a:tcPr>
                </a:tc>
                <a:tc>
                  <a:txBody>
                    <a:bodyPr wrap="square"/>
                    <a:lstStyle/>
                    <a:p>
                      <a:r>
                        <a:rPr sz="1500" b="0">
                          <a:solidFill>
                            <a:srgbClr val="14213D"/>
                          </a:solidFill>
                          <a:latin typeface="Arial"/>
                        </a:rPr>
                        <a:t>Firestore or MongoDB</a:t>
                      </a:r>
                    </a:p>
                  </a:txBody>
                  <a:tcPr marL="109728" marR="109728" marT="54864" marB="54864">
                    <a:solidFill>
                      <a:srgbClr val="EEF1F6"/>
                    </a:solidFill>
                  </a:tcPr>
                </a:tc>
                <a:tc>
                  <a:txBody>
                    <a:bodyPr wrap="square"/>
                    <a:lstStyle/>
                    <a:p>
                      <a:r>
                        <a:rPr sz="1500" b="0">
                          <a:solidFill>
                            <a:srgbClr val="14213D"/>
                          </a:solidFill>
                          <a:latin typeface="Arial"/>
                        </a:rPr>
                        <a:t>Drafts, preview links and Publish; the website reads published content only</a:t>
                      </a:r>
                    </a:p>
                  </a:txBody>
                  <a:tcPr marL="109728" marR="109728" marT="54864" marB="54864">
                    <a:solidFill>
                      <a:srgbClr val="EEF1F6"/>
                    </a:solidFill>
                  </a:tcPr>
                </a:tc>
              </a:tr>
              <a:tr h="731520">
                <a:tc>
                  <a:txBody>
                    <a:bodyPr wrap="square"/>
                    <a:lstStyle/>
                    <a:p>
                      <a:r>
                        <a:rPr sz="1500" b="1">
                          <a:solidFill>
                            <a:srgbClr val="14213D"/>
                          </a:solidFill>
                          <a:latin typeface="Arial"/>
                        </a:rPr>
                        <a:t>Agency with many clients</a:t>
                      </a:r>
                    </a:p>
                  </a:txBody>
                  <a:tcPr marL="109728" marR="109728" marT="54864" marB="54864">
                    <a:solidFill>
                      <a:srgbClr val="FFFFFF"/>
                    </a:solidFill>
                  </a:tcPr>
                </a:tc>
                <a:tc>
                  <a:txBody>
                    <a:bodyPr wrap="square"/>
                    <a:lstStyle/>
                    <a:p>
                      <a:r>
                        <a:rPr sz="1500" b="0">
                          <a:solidFill>
                            <a:srgbClr val="14213D"/>
                          </a:solidFill>
                          <a:latin typeface="Arial"/>
                        </a:rPr>
                        <a:t>A different database per client</a:t>
                      </a:r>
                    </a:p>
                  </a:txBody>
                  <a:tcPr marL="109728" marR="109728" marT="54864" marB="54864">
                    <a:solidFill>
                      <a:srgbClr val="FFFFFF"/>
                    </a:solidFill>
                  </a:tcPr>
                </a:tc>
                <a:tc>
                  <a:txBody>
                    <a:bodyPr wrap="square"/>
                    <a:lstStyle/>
                    <a:p>
                      <a:r>
                        <a:rPr sz="1500" b="0">
                          <a:solidFill>
                            <a:srgbClr val="14213D"/>
                          </a:solidFill>
                          <a:latin typeface="Arial"/>
                        </a:rPr>
                        <a:t>One gateway and admin app, one connection and token per client site</a:t>
                      </a:r>
                    </a:p>
                  </a:txBody>
                  <a:tcPr marL="109728" marR="109728" marT="54864" marB="54864">
                    <a:solidFill>
                      <a:srgbClr val="FFFFFF"/>
                    </a:solidFill>
                  </a:tcPr>
                </a:tc>
              </a:tr>
              <a:tr h="731520">
                <a:tc>
                  <a:txBody>
                    <a:bodyPr wrap="square"/>
                    <a:lstStyle/>
                    <a:p>
                      <a:r>
                        <a:rPr sz="1500" b="1">
                          <a:solidFill>
                            <a:srgbClr val="14213D"/>
                          </a:solidFill>
                          <a:latin typeface="Arial"/>
                        </a:rPr>
                        <a:t>Operations team</a:t>
                      </a:r>
                    </a:p>
                  </a:txBody>
                  <a:tcPr marL="109728" marR="109728" marT="54864" marB="54864">
                    <a:solidFill>
                      <a:srgbClr val="EEF1F6"/>
                    </a:solidFill>
                  </a:tcPr>
                </a:tc>
                <a:tc>
                  <a:txBody>
                    <a:bodyPr wrap="square"/>
                    <a:lstStyle/>
                    <a:p>
                      <a:r>
                        <a:rPr sz="1500" b="0">
                          <a:solidFill>
                            <a:srgbClr val="14213D"/>
                          </a:solidFill>
                          <a:latin typeface="Arial"/>
                        </a:rPr>
                        <a:t>Legacy MySQL or SQLite</a:t>
                      </a:r>
                    </a:p>
                  </a:txBody>
                  <a:tcPr marL="109728" marR="109728" marT="54864" marB="54864">
                    <a:solidFill>
                      <a:srgbClr val="EEF1F6"/>
                    </a:solidFill>
                  </a:tcPr>
                </a:tc>
                <a:tc>
                  <a:txBody>
                    <a:bodyPr wrap="square"/>
                    <a:lstStyle/>
                    <a:p>
                      <a:r>
                        <a:rPr sz="1500" b="0">
                          <a:solidFill>
                            <a:srgbClr val="14213D"/>
                          </a:solidFill>
                          <a:latin typeface="Arial"/>
                        </a:rPr>
                        <a:t>Read-only views and an audit log instead of direct database access</a:t>
                      </a:r>
                    </a:p>
                  </a:txBody>
                  <a:tcPr marL="109728" marR="109728" marT="54864" marB="54864">
                    <a:solidFill>
                      <a:srgbClr val="EEF1F6"/>
                    </a:solidFill>
                  </a:tcPr>
                </a:tc>
              </a:tr>
            </a:tbl>
          </a:graphicData>
        </a:graphic>
      </p:graphicFrame>
      <p:sp>
        <p:nvSpPr>
          <p:cNvPr id="6" name="TextBox 5"/>
          <p:cNvSpPr txBox="1"/>
          <p:nvPr/>
        </p:nvSpPr>
        <p:spPr>
          <a:xfrm>
            <a:off x="822960" y="5577840"/>
            <a:ext cx="10545775" cy="640080"/>
          </a:xfrm>
          <a:prstGeom prst="rect">
            <a:avLst/>
          </a:prstGeom>
          <a:noFill/>
        </p:spPr>
        <p:txBody>
          <a:bodyPr wrap="square" lIns="0" rIns="0" tIns="0" bIns="0" anchor="t">
            <a:spAutoFit/>
          </a:bodyPr>
          <a:lstStyle/>
          <a:p>
            <a:pPr algn="l">
              <a:lnSpc>
                <a:spcPct val="115000"/>
              </a:lnSpc>
            </a:pPr>
            <a:r>
              <a:rPr sz="1500" b="0">
                <a:solidFill>
                  <a:srgbClr val="4A5568"/>
                </a:solidFill>
                <a:latin typeface="Arial"/>
              </a:rPr>
              <a:t>Illustrative scenarios. The first design-partner deployment is planned for days 30 to 60.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One gateway between your apps and your databases</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Technical blueprint</a:t>
            </a:r>
          </a:p>
        </p:txBody>
      </p:sp>
      <p:sp>
        <p:nvSpPr>
          <p:cNvPr id="5" name="TextBox 4"/>
          <p:cNvSpPr txBox="1"/>
          <p:nvPr/>
        </p:nvSpPr>
        <p:spPr>
          <a:xfrm>
            <a:off x="822960" y="1828800"/>
            <a:ext cx="2926080" cy="274320"/>
          </a:xfrm>
          <a:prstGeom prst="rect">
            <a:avLst/>
          </a:prstGeom>
          <a:noFill/>
        </p:spPr>
        <p:txBody>
          <a:bodyPr wrap="square" lIns="0" rIns="0" tIns="0" bIns="0" anchor="t">
            <a:spAutoFit/>
          </a:bodyPr>
          <a:lstStyle/>
          <a:p>
            <a:pPr algn="l">
              <a:lnSpc>
                <a:spcPct val="115000"/>
              </a:lnSpc>
            </a:pPr>
            <a:r>
              <a:rPr sz="1200" b="0">
                <a:solidFill>
                  <a:srgbClr val="6B7280"/>
                </a:solidFill>
                <a:latin typeface="Arial"/>
              </a:rPr>
              <a:t>Clients</a:t>
            </a:r>
          </a:p>
        </p:txBody>
      </p:sp>
      <p:sp>
        <p:nvSpPr>
          <p:cNvPr id="6" name="Rounded Rectangle 5"/>
          <p:cNvSpPr/>
          <p:nvPr/>
        </p:nvSpPr>
        <p:spPr>
          <a:xfrm>
            <a:off x="822960" y="2194560"/>
            <a:ext cx="2926080" cy="59436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94560"/>
            <a:ext cx="2651760" cy="594360"/>
          </a:xfrm>
          <a:prstGeom prst="rect">
            <a:avLst/>
          </a:prstGeom>
          <a:noFill/>
        </p:spPr>
        <p:txBody>
          <a:bodyPr wrap="square" lIns="0" rIns="0" tIns="0" bIns="0" anchor="ctr">
            <a:spAutoFit/>
          </a:bodyPr>
          <a:lstStyle/>
          <a:p>
            <a:pPr algn="l">
              <a:lnSpc>
                <a:spcPct val="115000"/>
              </a:lnSpc>
            </a:pPr>
            <a:r>
              <a:rPr sz="1400" b="1">
                <a:solidFill>
                  <a:srgbClr val="14213D"/>
                </a:solidFill>
                <a:latin typeface="Arial"/>
              </a:rPr>
              <a:t>Next.js and React</a:t>
            </a:r>
          </a:p>
        </p:txBody>
      </p:sp>
      <p:sp>
        <p:nvSpPr>
          <p:cNvPr id="8" name="Rounded Rectangle 7"/>
          <p:cNvSpPr/>
          <p:nvPr/>
        </p:nvSpPr>
        <p:spPr>
          <a:xfrm>
            <a:off x="822960" y="2926080"/>
            <a:ext cx="2926080" cy="59436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26080"/>
            <a:ext cx="2651760" cy="594360"/>
          </a:xfrm>
          <a:prstGeom prst="rect">
            <a:avLst/>
          </a:prstGeom>
          <a:noFill/>
        </p:spPr>
        <p:txBody>
          <a:bodyPr wrap="square" lIns="0" rIns="0" tIns="0" bIns="0" anchor="ctr">
            <a:spAutoFit/>
          </a:bodyPr>
          <a:lstStyle/>
          <a:p>
            <a:pPr algn="l">
              <a:lnSpc>
                <a:spcPct val="115000"/>
              </a:lnSpc>
            </a:pPr>
            <a:r>
              <a:rPr sz="1400" b="1">
                <a:solidFill>
                  <a:srgbClr val="14213D"/>
                </a:solidFill>
                <a:latin typeface="Arial"/>
              </a:rPr>
              <a:t>Flutter and mobile</a:t>
            </a:r>
          </a:p>
        </p:txBody>
      </p:sp>
      <p:sp>
        <p:nvSpPr>
          <p:cNvPr id="10" name="Rounded Rectangle 9"/>
          <p:cNvSpPr/>
          <p:nvPr/>
        </p:nvSpPr>
        <p:spPr>
          <a:xfrm>
            <a:off x="822960" y="3657600"/>
            <a:ext cx="2926080" cy="59436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657600"/>
            <a:ext cx="2651760" cy="594360"/>
          </a:xfrm>
          <a:prstGeom prst="rect">
            <a:avLst/>
          </a:prstGeom>
          <a:noFill/>
        </p:spPr>
        <p:txBody>
          <a:bodyPr wrap="square" lIns="0" rIns="0" tIns="0" bIns="0" anchor="ctr">
            <a:spAutoFit/>
          </a:bodyPr>
          <a:lstStyle/>
          <a:p>
            <a:pPr algn="l">
              <a:lnSpc>
                <a:spcPct val="115000"/>
              </a:lnSpc>
            </a:pPr>
            <a:r>
              <a:rPr sz="1400" b="1">
                <a:solidFill>
                  <a:srgbClr val="14213D"/>
                </a:solidFill>
                <a:latin typeface="Arial"/>
              </a:rPr>
              <a:t>Python and scripts</a:t>
            </a:r>
          </a:p>
        </p:txBody>
      </p:sp>
      <p:sp>
        <p:nvSpPr>
          <p:cNvPr id="12" name="TextBox 11"/>
          <p:cNvSpPr txBox="1"/>
          <p:nvPr/>
        </p:nvSpPr>
        <p:spPr>
          <a:xfrm>
            <a:off x="8442655" y="1828800"/>
            <a:ext cx="2926080" cy="274320"/>
          </a:xfrm>
          <a:prstGeom prst="rect">
            <a:avLst/>
          </a:prstGeom>
          <a:noFill/>
        </p:spPr>
        <p:txBody>
          <a:bodyPr wrap="square" lIns="0" rIns="0" tIns="0" bIns="0" anchor="t">
            <a:spAutoFit/>
          </a:bodyPr>
          <a:lstStyle/>
          <a:p>
            <a:pPr algn="l">
              <a:lnSpc>
                <a:spcPct val="115000"/>
              </a:lnSpc>
            </a:pPr>
            <a:r>
              <a:rPr sz="1200" b="0">
                <a:solidFill>
                  <a:srgbClr val="6B7280"/>
                </a:solidFill>
                <a:latin typeface="Arial"/>
              </a:rPr>
              <a:t>Your databases, unchanged</a:t>
            </a:r>
          </a:p>
        </p:txBody>
      </p:sp>
      <p:sp>
        <p:nvSpPr>
          <p:cNvPr id="13" name="Rounded Rectangle 12"/>
          <p:cNvSpPr/>
          <p:nvPr/>
        </p:nvSpPr>
        <p:spPr>
          <a:xfrm>
            <a:off x="8442655" y="2194560"/>
            <a:ext cx="2926080" cy="59436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79815" y="2194560"/>
            <a:ext cx="2651760" cy="594360"/>
          </a:xfrm>
          <a:prstGeom prst="rect">
            <a:avLst/>
          </a:prstGeom>
          <a:noFill/>
        </p:spPr>
        <p:txBody>
          <a:bodyPr wrap="square" lIns="0" rIns="0" tIns="0" bIns="0" anchor="ctr">
            <a:spAutoFit/>
          </a:bodyPr>
          <a:lstStyle/>
          <a:p>
            <a:pPr algn="l">
              <a:lnSpc>
                <a:spcPct val="115000"/>
              </a:lnSpc>
            </a:pPr>
            <a:r>
              <a:rPr sz="1400" b="1">
                <a:solidFill>
                  <a:srgbClr val="14213D"/>
                </a:solidFill>
                <a:latin typeface="Arial"/>
              </a:rPr>
              <a:t>SQL: Postgres, MySQL, SQLite</a:t>
            </a:r>
          </a:p>
        </p:txBody>
      </p:sp>
      <p:sp>
        <p:nvSpPr>
          <p:cNvPr id="15" name="Rounded Rectangle 14"/>
          <p:cNvSpPr/>
          <p:nvPr/>
        </p:nvSpPr>
        <p:spPr>
          <a:xfrm>
            <a:off x="8442655" y="2926080"/>
            <a:ext cx="2926080" cy="59436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79815" y="2926080"/>
            <a:ext cx="2651760" cy="594360"/>
          </a:xfrm>
          <a:prstGeom prst="rect">
            <a:avLst/>
          </a:prstGeom>
          <a:noFill/>
        </p:spPr>
        <p:txBody>
          <a:bodyPr wrap="square" lIns="0" rIns="0" tIns="0" bIns="0" anchor="ctr">
            <a:spAutoFit/>
          </a:bodyPr>
          <a:lstStyle/>
          <a:p>
            <a:pPr algn="l">
              <a:lnSpc>
                <a:spcPct val="115000"/>
              </a:lnSpc>
            </a:pPr>
            <a:r>
              <a:rPr sz="1400" b="1">
                <a:solidFill>
                  <a:srgbClr val="14213D"/>
                </a:solidFill>
                <a:latin typeface="Arial"/>
              </a:rPr>
              <a:t>Document: MongoDB, Firestore</a:t>
            </a:r>
          </a:p>
        </p:txBody>
      </p:sp>
      <p:sp>
        <p:nvSpPr>
          <p:cNvPr id="17" name="Rounded Rectangle 16"/>
          <p:cNvSpPr/>
          <p:nvPr/>
        </p:nvSpPr>
        <p:spPr>
          <a:xfrm>
            <a:off x="8442655" y="3657600"/>
            <a:ext cx="2926080" cy="59436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79815" y="3657600"/>
            <a:ext cx="2651760" cy="594360"/>
          </a:xfrm>
          <a:prstGeom prst="rect">
            <a:avLst/>
          </a:prstGeom>
          <a:noFill/>
        </p:spPr>
        <p:txBody>
          <a:bodyPr wrap="square" lIns="0" rIns="0" tIns="0" bIns="0" anchor="ctr">
            <a:spAutoFit/>
          </a:bodyPr>
          <a:lstStyle/>
          <a:p>
            <a:pPr algn="l">
              <a:lnSpc>
                <a:spcPct val="115000"/>
              </a:lnSpc>
            </a:pPr>
            <a:r>
              <a:rPr sz="1400" b="1">
                <a:solidFill>
                  <a:srgbClr val="14213D"/>
                </a:solidFill>
                <a:latin typeface="Arial"/>
              </a:rPr>
              <a:t>Memory, for tests</a:t>
            </a:r>
          </a:p>
        </p:txBody>
      </p:sp>
      <p:sp>
        <p:nvSpPr>
          <p:cNvPr id="19" name="Rounded Rectangle 18"/>
          <p:cNvSpPr/>
          <p:nvPr/>
        </p:nvSpPr>
        <p:spPr>
          <a:xfrm>
            <a:off x="4480560" y="2194560"/>
            <a:ext cx="3200400" cy="205740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63440" y="2377440"/>
            <a:ext cx="2834640" cy="548640"/>
          </a:xfrm>
          <a:prstGeom prst="rect">
            <a:avLst/>
          </a:prstGeom>
          <a:noFill/>
        </p:spPr>
        <p:txBody>
          <a:bodyPr wrap="square" lIns="0" rIns="0" tIns="0" bIns="0" anchor="t">
            <a:spAutoFit/>
          </a:bodyPr>
          <a:lstStyle/>
          <a:p>
            <a:pPr algn="l">
              <a:lnSpc>
                <a:spcPct val="115000"/>
              </a:lnSpc>
            </a:pPr>
            <a:r>
              <a:rPr sz="2200" b="1">
                <a:solidFill>
                  <a:srgbClr val="FFFFFF"/>
                </a:solidFill>
                <a:latin typeface="Arial"/>
              </a:rPr>
              <a:t>SethuCMS gateway</a:t>
            </a:r>
          </a:p>
        </p:txBody>
      </p:sp>
      <p:sp>
        <p:nvSpPr>
          <p:cNvPr id="21" name="TextBox 20"/>
          <p:cNvSpPr txBox="1"/>
          <p:nvPr/>
        </p:nvSpPr>
        <p:spPr>
          <a:xfrm>
            <a:off x="4663440" y="2971800"/>
            <a:ext cx="2834640" cy="1280160"/>
          </a:xfrm>
          <a:prstGeom prst="rect">
            <a:avLst/>
          </a:prstGeom>
          <a:noFill/>
        </p:spPr>
        <p:txBody>
          <a:bodyPr wrap="square" lIns="0" rIns="0" tIns="0" bIns="0" anchor="t">
            <a:spAutoFit/>
          </a:bodyPr>
          <a:lstStyle/>
          <a:p>
            <a:pPr algn="l">
              <a:lnSpc>
                <a:spcPct val="115000"/>
              </a:lnSpc>
            </a:pPr>
            <a:r>
              <a:rPr sz="1300" b="0">
                <a:solidFill>
                  <a:srgbClr val="DCE6F2"/>
                </a:solidFill>
                <a:latin typeface="Arial"/>
              </a:rPr>
              <a:t>One REST API. One admin app. Tokens, permissions, drafts, audit log and the vault for database credentials.</a:t>
            </a:r>
          </a:p>
        </p:txBody>
      </p:sp>
      <p:sp>
        <p:nvSpPr>
          <p:cNvPr id="22" name="Right Arrow 21"/>
          <p:cNvSpPr/>
          <p:nvPr/>
        </p:nvSpPr>
        <p:spPr>
          <a:xfrm>
            <a:off x="3840480" y="2971800"/>
            <a:ext cx="502920" cy="320040"/>
          </a:xfrm>
          <a:prstGeom prst="rightArrow">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7818120" y="2971800"/>
            <a:ext cx="502920" cy="320040"/>
          </a:xfrm>
          <a:prstGeom prst="rightArrow">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892040"/>
            <a:ext cx="10545775" cy="640080"/>
          </a:xfrm>
          <a:prstGeom prst="rect">
            <a:avLst/>
          </a:prstGeom>
          <a:noFill/>
        </p:spPr>
        <p:txBody>
          <a:bodyPr wrap="square" lIns="0" rIns="0" tIns="0" bIns="0" anchor="t">
            <a:spAutoFit/>
          </a:bodyPr>
          <a:lstStyle/>
          <a:p>
            <a:pPr algn="l">
              <a:lnSpc>
                <a:spcPct val="115000"/>
              </a:lnSpc>
            </a:pPr>
            <a:r>
              <a:rPr sz="1700" b="0">
                <a:solidFill>
                  <a:srgbClr val="4A5568"/>
                </a:solidFill>
                <a:latin typeface="Arial"/>
              </a:rPr>
              <a:t>Bring your own database. SethuCMS reads its structure, builds one content model, and never needs a migration to start.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Credentials never reach the browser</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Technical blueprint</a:t>
            </a:r>
          </a:p>
        </p:txBody>
      </p:sp>
      <p:graphicFrame>
        <p:nvGraphicFramePr>
          <p:cNvPr id="5" name="Table 4"/>
          <p:cNvGraphicFramePr>
            <a:graphicFrameLocks noGrp="1"/>
          </p:cNvGraphicFramePr>
          <p:nvPr/>
        </p:nvGraphicFramePr>
        <p:xfrm>
          <a:off x="822960" y="1737360"/>
          <a:ext cx="10545775" cy="3200400"/>
        </p:xfrm>
        <a:graphic>
          <a:graphicData uri="http://schemas.openxmlformats.org/drawingml/2006/table">
            <a:tbl>
              <a:tblPr firstRow="1" bandRow="1">
                <a:tableStyleId>{5C22544A-7EE6-4342-B048-85BDC9FD1C3A}</a:tableStyleId>
              </a:tblPr>
              <a:tblGrid>
                <a:gridCol w="2530986"/>
                <a:gridCol w="8014789"/>
              </a:tblGrid>
              <a:tr h="457200">
                <a:tc>
                  <a:txBody>
                    <a:bodyPr wrap="square"/>
                    <a:lstStyle/>
                    <a:p>
                      <a:r>
                        <a:rPr sz="1500" b="1">
                          <a:solidFill>
                            <a:srgbClr val="FFFFFF"/>
                          </a:solidFill>
                          <a:latin typeface="Arial"/>
                        </a:rPr>
                        <a:t>Control</a:t>
                      </a:r>
                    </a:p>
                  </a:txBody>
                  <a:tcPr marL="109728" marR="109728" marT="54864" marB="54864">
                    <a:solidFill>
                      <a:srgbClr val="1F4E79"/>
                    </a:solidFill>
                  </a:tcPr>
                </a:tc>
                <a:tc>
                  <a:txBody>
                    <a:bodyPr wrap="square"/>
                    <a:lstStyle/>
                    <a:p>
                      <a:r>
                        <a:rPr sz="1500" b="1">
                          <a:solidFill>
                            <a:srgbClr val="FFFFFF"/>
                          </a:solidFill>
                          <a:latin typeface="Arial"/>
                        </a:rPr>
                        <a:t>How it works</a:t>
                      </a:r>
                    </a:p>
                  </a:txBody>
                  <a:tcPr marL="109728" marR="109728" marT="54864" marB="54864">
                    <a:solidFill>
                      <a:srgbClr val="1F4E79"/>
                    </a:solidFill>
                  </a:tcPr>
                </a:tc>
              </a:tr>
              <a:tr h="457200">
                <a:tc>
                  <a:txBody>
                    <a:bodyPr wrap="square"/>
                    <a:lstStyle/>
                    <a:p>
                      <a:r>
                        <a:rPr sz="1500" b="1">
                          <a:solidFill>
                            <a:srgbClr val="14213D"/>
                          </a:solidFill>
                          <a:latin typeface="Arial"/>
                        </a:rPr>
                        <a:t>Tokens</a:t>
                      </a:r>
                    </a:p>
                  </a:txBody>
                  <a:tcPr marL="109728" marR="109728" marT="54864" marB="54864">
                    <a:solidFill>
                      <a:srgbClr val="FFFFFF"/>
                    </a:solidFill>
                  </a:tcPr>
                </a:tc>
                <a:tc>
                  <a:txBody>
                    <a:bodyPr wrap="square"/>
                    <a:lstStyle/>
                    <a:p>
                      <a:r>
                        <a:rPr sz="1500" b="0">
                          <a:solidFill>
                            <a:srgbClr val="14213D"/>
                          </a:solidFill>
                          <a:latin typeface="Arial"/>
                        </a:rPr>
                        <a:t>Admin, editor and viewer roles. Only SHA-256 hashes are stored</a:t>
                      </a:r>
                    </a:p>
                  </a:txBody>
                  <a:tcPr marL="109728" marR="109728" marT="54864" marB="54864">
                    <a:solidFill>
                      <a:srgbClr val="FFFFFF"/>
                    </a:solidFill>
                  </a:tcPr>
                </a:tc>
              </a:tr>
              <a:tr h="457200">
                <a:tc>
                  <a:txBody>
                    <a:bodyPr wrap="square"/>
                    <a:lstStyle/>
                    <a:p>
                      <a:r>
                        <a:rPr sz="1500" b="1">
                          <a:solidFill>
                            <a:srgbClr val="14213D"/>
                          </a:solidFill>
                          <a:latin typeface="Arial"/>
                        </a:rPr>
                        <a:t>Vault</a:t>
                      </a:r>
                    </a:p>
                  </a:txBody>
                  <a:tcPr marL="109728" marR="109728" marT="54864" marB="54864">
                    <a:solidFill>
                      <a:srgbClr val="EEF1F6"/>
                    </a:solidFill>
                  </a:tcPr>
                </a:tc>
                <a:tc>
                  <a:txBody>
                    <a:bodyPr wrap="square"/>
                    <a:lstStyle/>
                    <a:p>
                      <a:r>
                        <a:rPr sz="1500" b="0">
                          <a:solidFill>
                            <a:srgbClr val="14213D"/>
                          </a:solidFill>
                          <a:latin typeface="Arial"/>
                        </a:rPr>
                        <a:t>AES-256-GCM, bound to the record it protects. Holds database credentials and drafts</a:t>
                      </a:r>
                    </a:p>
                  </a:txBody>
                  <a:tcPr marL="109728" marR="109728" marT="54864" marB="54864">
                    <a:solidFill>
                      <a:srgbClr val="EEF1F6"/>
                    </a:solidFill>
                  </a:tcPr>
                </a:tc>
              </a:tr>
              <a:tr h="457200">
                <a:tc>
                  <a:txBody>
                    <a:bodyPr wrap="square"/>
                    <a:lstStyle/>
                    <a:p>
                      <a:r>
                        <a:rPr sz="1500" b="1">
                          <a:solidFill>
                            <a:srgbClr val="14213D"/>
                          </a:solidFill>
                          <a:latin typeface="Arial"/>
                        </a:rPr>
                        <a:t>Network guard</a:t>
                      </a:r>
                    </a:p>
                  </a:txBody>
                  <a:tcPr marL="109728" marR="109728" marT="54864" marB="54864">
                    <a:solidFill>
                      <a:srgbClr val="FFFFFF"/>
                    </a:solidFill>
                  </a:tcPr>
                </a:tc>
                <a:tc>
                  <a:txBody>
                    <a:bodyPr wrap="square"/>
                    <a:lstStyle/>
                    <a:p>
                      <a:r>
                        <a:rPr sz="1500" b="0">
                          <a:solidFill>
                            <a:srgbClr val="14213D"/>
                          </a:solidFill>
                          <a:latin typeface="Arial"/>
                        </a:rPr>
                        <a:t>Cloud metadata and link-local addresses always blocked</a:t>
                      </a:r>
                    </a:p>
                  </a:txBody>
                  <a:tcPr marL="109728" marR="109728" marT="54864" marB="54864">
                    <a:solidFill>
                      <a:srgbClr val="FFFFFF"/>
                    </a:solidFill>
                  </a:tcPr>
                </a:tc>
              </a:tr>
              <a:tr h="457200">
                <a:tc>
                  <a:txBody>
                    <a:bodyPr wrap="square"/>
                    <a:lstStyle/>
                    <a:p>
                      <a:r>
                        <a:rPr sz="1500" b="1">
                          <a:solidFill>
                            <a:srgbClr val="14213D"/>
                          </a:solidFill>
                          <a:latin typeface="Arial"/>
                        </a:rPr>
                        <a:t>Queries</a:t>
                      </a:r>
                    </a:p>
                  </a:txBody>
                  <a:tcPr marL="109728" marR="109728" marT="54864" marB="54864">
                    <a:solidFill>
                      <a:srgbClr val="EEF1F6"/>
                    </a:solidFill>
                  </a:tcPr>
                </a:tc>
                <a:tc>
                  <a:txBody>
                    <a:bodyPr wrap="square"/>
                    <a:lstStyle/>
                    <a:p>
                      <a:r>
                        <a:rPr sz="1500" b="0">
                          <a:solidFill>
                            <a:srgbClr val="14213D"/>
                          </a:solidFill>
                          <a:latin typeface="Arial"/>
                        </a:rPr>
                        <a:t>Allowed fields only, parameters only, connections read-only by default</a:t>
                      </a:r>
                    </a:p>
                  </a:txBody>
                  <a:tcPr marL="109728" marR="109728" marT="54864" marB="54864">
                    <a:solidFill>
                      <a:srgbClr val="EEF1F6"/>
                    </a:solidFill>
                  </a:tcPr>
                </a:tc>
              </a:tr>
              <a:tr h="457200">
                <a:tc>
                  <a:txBody>
                    <a:bodyPr wrap="square"/>
                    <a:lstStyle/>
                    <a:p>
                      <a:r>
                        <a:rPr sz="1500" b="1">
                          <a:solidFill>
                            <a:srgbClr val="14213D"/>
                          </a:solidFill>
                          <a:latin typeface="Arial"/>
                        </a:rPr>
                        <a:t>Audit log</a:t>
                      </a:r>
                    </a:p>
                  </a:txBody>
                  <a:tcPr marL="109728" marR="109728" marT="54864" marB="54864">
                    <a:solidFill>
                      <a:srgbClr val="FFFFFF"/>
                    </a:solidFill>
                  </a:tcPr>
                </a:tc>
                <a:tc>
                  <a:txBody>
                    <a:bodyPr wrap="square"/>
                    <a:lstStyle/>
                    <a:p>
                      <a:r>
                        <a:rPr sz="1500" b="0">
                          <a:solidFill>
                            <a:srgbClr val="14213D"/>
                          </a:solidFill>
                          <a:latin typeface="Arial"/>
                        </a:rPr>
                        <a:t>Append-only, hash-chained, secrets redacted. Verifiable through the API</a:t>
                      </a:r>
                    </a:p>
                  </a:txBody>
                  <a:tcPr marL="109728" marR="109728" marT="54864" marB="54864">
                    <a:solidFill>
                      <a:srgbClr val="FFFFFF"/>
                    </a:solidFill>
                  </a:tcPr>
                </a:tc>
              </a:tr>
              <a:tr h="457200">
                <a:tc>
                  <a:txBody>
                    <a:bodyPr wrap="square"/>
                    <a:lstStyle/>
                    <a:p>
                      <a:r>
                        <a:rPr sz="1500" b="1">
                          <a:solidFill>
                            <a:srgbClr val="14213D"/>
                          </a:solidFill>
                          <a:latin typeface="Arial"/>
                        </a:rPr>
                        <a:t>Single sign-on</a:t>
                      </a:r>
                    </a:p>
                  </a:txBody>
                  <a:tcPr marL="109728" marR="109728" marT="54864" marB="54864">
                    <a:solidFill>
                      <a:srgbClr val="EEF1F6"/>
                    </a:solidFill>
                  </a:tcPr>
                </a:tc>
                <a:tc>
                  <a:txBody>
                    <a:bodyPr wrap="square"/>
                    <a:lstStyle/>
                    <a:p>
                      <a:r>
                        <a:rPr sz="1500" b="0">
                          <a:solidFill>
                            <a:srgbClr val="14213D"/>
                          </a:solidFill>
                          <a:latin typeface="Arial"/>
                        </a:rPr>
                        <a:t>OpenID Connect with PKCE. Tested against a test identity provider only</a:t>
                      </a:r>
                    </a:p>
                  </a:txBody>
                  <a:tcPr marL="109728" marR="109728" marT="54864" marB="54864">
                    <a:solidFill>
                      <a:srgbClr val="EEF1F6"/>
                    </a:solidFill>
                  </a:tcPr>
                </a:tc>
              </a:tr>
            </a:tbl>
          </a:graphicData>
        </a:graphic>
      </p:graphicFrame>
      <p:sp>
        <p:nvSpPr>
          <p:cNvPr id="6" name="TextBox 5"/>
          <p:cNvSpPr txBox="1"/>
          <p:nvPr/>
        </p:nvSpPr>
        <p:spPr>
          <a:xfrm>
            <a:off x="822960" y="5394960"/>
            <a:ext cx="10545775" cy="640080"/>
          </a:xfrm>
          <a:prstGeom prst="rect">
            <a:avLst/>
          </a:prstGeom>
          <a:noFill/>
        </p:spPr>
        <p:txBody>
          <a:bodyPr wrap="square" lIns="0" rIns="0" tIns="0" bIns="0" anchor="t">
            <a:spAutoFit/>
          </a:bodyPr>
          <a:lstStyle/>
          <a:p>
            <a:pPr algn="l">
              <a:lnSpc>
                <a:spcPct val="115000"/>
              </a:lnSpc>
            </a:pPr>
            <a:r>
              <a:rPr sz="1450" b="0">
                <a:solidFill>
                  <a:srgbClr val="4A5568"/>
                </a:solidFill>
                <a:latin typeface="Arial"/>
              </a:rPr>
              <a:t>Also built in: rate limits, idempotency keys and a strict content security policy on the admin page.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Editing never touches the database until Publish</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Technical blueprint</a:t>
            </a:r>
          </a:p>
        </p:txBody>
      </p:sp>
      <p:sp>
        <p:nvSpPr>
          <p:cNvPr id="5" name="Rounded Rectangle 4"/>
          <p:cNvSpPr/>
          <p:nvPr/>
        </p:nvSpPr>
        <p:spPr>
          <a:xfrm>
            <a:off x="822960" y="1920240"/>
            <a:ext cx="2485567" cy="246888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21408"/>
            <a:ext cx="2028367"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Edit</a:t>
            </a:r>
          </a:p>
        </p:txBody>
      </p:sp>
      <p:sp>
        <p:nvSpPr>
          <p:cNvPr id="7" name="TextBox 6"/>
          <p:cNvSpPr txBox="1"/>
          <p:nvPr/>
        </p:nvSpPr>
        <p:spPr>
          <a:xfrm>
            <a:off x="1051560" y="2697480"/>
            <a:ext cx="2028367" cy="1554480"/>
          </a:xfrm>
          <a:prstGeom prst="rect">
            <a:avLst/>
          </a:prstGeom>
          <a:noFill/>
        </p:spPr>
        <p:txBody>
          <a:bodyPr wrap="square" lIns="0" rIns="0" tIns="0" bIns="0" anchor="t">
            <a:spAutoFit/>
          </a:bodyPr>
          <a:lstStyle/>
          <a:p>
            <a:pPr algn="l">
              <a:lnSpc>
                <a:spcPct val="115000"/>
              </a:lnSpc>
            </a:pPr>
            <a:r>
              <a:rPr sz="1450" b="0">
                <a:solidFill>
                  <a:srgbClr val="4A5568"/>
                </a:solidFill>
                <a:latin typeface="Arial"/>
              </a:rPr>
              <a:t>The editor changes a record in the admin app.</a:t>
            </a:r>
          </a:p>
        </p:txBody>
      </p:sp>
      <p:sp>
        <p:nvSpPr>
          <p:cNvPr id="8" name="Rounded Rectangle 7"/>
          <p:cNvSpPr/>
          <p:nvPr/>
        </p:nvSpPr>
        <p:spPr>
          <a:xfrm>
            <a:off x="3509695" y="1920240"/>
            <a:ext cx="2485567" cy="246888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38295" y="2121408"/>
            <a:ext cx="2028367"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Draft</a:t>
            </a:r>
          </a:p>
        </p:txBody>
      </p:sp>
      <p:sp>
        <p:nvSpPr>
          <p:cNvPr id="10" name="TextBox 9"/>
          <p:cNvSpPr txBox="1"/>
          <p:nvPr/>
        </p:nvSpPr>
        <p:spPr>
          <a:xfrm>
            <a:off x="3738295" y="2697480"/>
            <a:ext cx="2028367" cy="1554480"/>
          </a:xfrm>
          <a:prstGeom prst="rect">
            <a:avLst/>
          </a:prstGeom>
          <a:noFill/>
        </p:spPr>
        <p:txBody>
          <a:bodyPr wrap="square" lIns="0" rIns="0" tIns="0" bIns="0" anchor="t">
            <a:spAutoFit/>
          </a:bodyPr>
          <a:lstStyle/>
          <a:p>
            <a:pPr algn="l">
              <a:lnSpc>
                <a:spcPct val="115000"/>
              </a:lnSpc>
            </a:pPr>
            <a:r>
              <a:rPr sz="1450" b="0">
                <a:solidFill>
                  <a:srgbClr val="4A5568"/>
                </a:solidFill>
                <a:latin typeface="Arial"/>
              </a:rPr>
              <a:t>Saved encrypted in the gateway. The customer database is untouched.</a:t>
            </a:r>
          </a:p>
        </p:txBody>
      </p:sp>
      <p:sp>
        <p:nvSpPr>
          <p:cNvPr id="11" name="Rounded Rectangle 10"/>
          <p:cNvSpPr/>
          <p:nvPr/>
        </p:nvSpPr>
        <p:spPr>
          <a:xfrm>
            <a:off x="6196431" y="1920240"/>
            <a:ext cx="2485567" cy="246888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5031" y="2121408"/>
            <a:ext cx="2028367"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Preview</a:t>
            </a:r>
          </a:p>
        </p:txBody>
      </p:sp>
      <p:sp>
        <p:nvSpPr>
          <p:cNvPr id="13" name="TextBox 12"/>
          <p:cNvSpPr txBox="1"/>
          <p:nvPr/>
        </p:nvSpPr>
        <p:spPr>
          <a:xfrm>
            <a:off x="6425031" y="2697480"/>
            <a:ext cx="2028367" cy="1554480"/>
          </a:xfrm>
          <a:prstGeom prst="rect">
            <a:avLst/>
          </a:prstGeom>
          <a:noFill/>
        </p:spPr>
        <p:txBody>
          <a:bodyPr wrap="square" lIns="0" rIns="0" tIns="0" bIns="0" anchor="t">
            <a:spAutoFit/>
          </a:bodyPr>
          <a:lstStyle/>
          <a:p>
            <a:pPr algn="l">
              <a:lnSpc>
                <a:spcPct val="115000"/>
              </a:lnSpc>
            </a:pPr>
            <a:r>
              <a:rPr sz="1450" b="0">
                <a:solidFill>
                  <a:srgbClr val="4A5568"/>
                </a:solidFill>
                <a:latin typeface="Arial"/>
              </a:rPr>
              <a:t>A signed link shows the draft merged over the live record.</a:t>
            </a:r>
          </a:p>
        </p:txBody>
      </p:sp>
      <p:sp>
        <p:nvSpPr>
          <p:cNvPr id="14" name="Rounded Rectangle 13"/>
          <p:cNvSpPr/>
          <p:nvPr/>
        </p:nvSpPr>
        <p:spPr>
          <a:xfrm>
            <a:off x="8883167" y="1920240"/>
            <a:ext cx="2485567" cy="246888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11767" y="2121408"/>
            <a:ext cx="2028367" cy="548640"/>
          </a:xfrm>
          <a:prstGeom prst="rect">
            <a:avLst/>
          </a:prstGeom>
          <a:noFill/>
        </p:spPr>
        <p:txBody>
          <a:bodyPr wrap="square" lIns="0" rIns="0" tIns="0" bIns="0" anchor="t">
            <a:spAutoFit/>
          </a:bodyPr>
          <a:lstStyle/>
          <a:p>
            <a:pPr algn="l">
              <a:lnSpc>
                <a:spcPct val="115000"/>
              </a:lnSpc>
            </a:pPr>
            <a:r>
              <a:rPr sz="1900" b="1">
                <a:solidFill>
                  <a:srgbClr val="FFFFFF"/>
                </a:solidFill>
                <a:latin typeface="Arial"/>
              </a:rPr>
              <a:t>Publish</a:t>
            </a:r>
          </a:p>
        </p:txBody>
      </p:sp>
      <p:sp>
        <p:nvSpPr>
          <p:cNvPr id="16" name="TextBox 15"/>
          <p:cNvSpPr txBox="1"/>
          <p:nvPr/>
        </p:nvSpPr>
        <p:spPr>
          <a:xfrm>
            <a:off x="9111767" y="2697480"/>
            <a:ext cx="2028367" cy="1554480"/>
          </a:xfrm>
          <a:prstGeom prst="rect">
            <a:avLst/>
          </a:prstGeom>
          <a:noFill/>
        </p:spPr>
        <p:txBody>
          <a:bodyPr wrap="square" lIns="0" rIns="0" tIns="0" bIns="0" anchor="t">
            <a:spAutoFit/>
          </a:bodyPr>
          <a:lstStyle/>
          <a:p>
            <a:pPr algn="l">
              <a:lnSpc>
                <a:spcPct val="115000"/>
              </a:lnSpc>
            </a:pPr>
            <a:r>
              <a:rPr sz="1450" b="0">
                <a:solidFill>
                  <a:srgbClr val="DCE6F2"/>
                </a:solidFill>
                <a:latin typeface="Arial"/>
              </a:rPr>
              <a:t>Checks the record has not changed, then writes through the normal permission path.</a:t>
            </a:r>
          </a:p>
        </p:txBody>
      </p:sp>
      <p:sp>
        <p:nvSpPr>
          <p:cNvPr id="17" name="TextBox 16"/>
          <p:cNvSpPr txBox="1"/>
          <p:nvPr/>
        </p:nvSpPr>
        <p:spPr>
          <a:xfrm>
            <a:off x="822960" y="4754880"/>
            <a:ext cx="10545775" cy="640080"/>
          </a:xfrm>
          <a:prstGeom prst="rect">
            <a:avLst/>
          </a:prstGeom>
          <a:noFill/>
        </p:spPr>
        <p:txBody>
          <a:bodyPr wrap="square" lIns="0" rIns="0" tIns="0" bIns="0" anchor="t">
            <a:spAutoFit/>
          </a:bodyPr>
          <a:lstStyle/>
          <a:p>
            <a:pPr algn="l">
              <a:lnSpc>
                <a:spcPct val="115000"/>
              </a:lnSpc>
            </a:pPr>
            <a:r>
              <a:rPr sz="1600" b="0">
                <a:solidFill>
                  <a:srgbClr val="4A5568"/>
                </a:solidFill>
                <a:latin typeface="Arial"/>
              </a:rPr>
              <a:t>If someone else changed the record in the meantime, Publish stops with a conflict error instead of overwriting their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Three lines from a website to its content</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Technical blueprint</a:t>
            </a:r>
          </a:p>
        </p:txBody>
      </p:sp>
      <p:sp>
        <p:nvSpPr>
          <p:cNvPr id="5" name="Rounded Rectangle 4"/>
          <p:cNvSpPr/>
          <p:nvPr/>
        </p:nvSpPr>
        <p:spPr>
          <a:xfrm>
            <a:off x="822960" y="1828800"/>
            <a:ext cx="6583680" cy="3931920"/>
          </a:xfrm>
          <a:prstGeom prst="roundRect">
            <a:avLst>
              <a:gd name="adj" fmla="val 6000"/>
            </a:avLst>
          </a:prstGeom>
          <a:solidFill>
            <a:srgbClr val="0E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6035040" cy="3657600"/>
          </a:xfrm>
          <a:prstGeom prst="rect">
            <a:avLst/>
          </a:prstGeom>
          <a:noFill/>
        </p:spPr>
        <p:txBody>
          <a:bodyPr wrap="square" lIns="0" rIns="0" tIns="0" bIns="0" anchor="t">
            <a:spAutoFit/>
          </a:bodyPr>
          <a:lstStyle/>
          <a:p>
            <a:pPr algn="l">
              <a:lnSpc>
                <a:spcPct val="120000"/>
              </a:lnSpc>
            </a:pPr>
            <a:r>
              <a:rPr sz="1300" b="0">
                <a:solidFill>
                  <a:srgbClr val="EAF0F8"/>
                </a:solidFill>
                <a:latin typeface="Courier New"/>
              </a:rPr>
              <a:t>npm install @sethucms/sdk</a:t>
            </a:r>
          </a:p>
          <a:p>
            <a:pPr algn="l">
              <a:lnSpc>
                <a:spcPct val="120000"/>
              </a:lnSpc>
            </a:pPr>
            <a:r>
              <a:rPr sz="1300" b="0">
                <a:solidFill>
                  <a:srgbClr val="EAF0F8"/>
                </a:solidFill>
                <a:latin typeface="Courier New"/>
              </a:rPr>
              <a:t/>
            </a:r>
          </a:p>
          <a:p>
            <a:pPr algn="l">
              <a:lnSpc>
                <a:spcPct val="120000"/>
              </a:lnSpc>
            </a:pPr>
            <a:r>
              <a:rPr sz="1300" b="0">
                <a:solidFill>
                  <a:srgbClr val="EAF0F8"/>
                </a:solidFill>
                <a:latin typeface="Courier New"/>
              </a:rPr>
              <a:t>const cms = new SethuClient({</a:t>
            </a:r>
          </a:p>
          <a:p>
            <a:pPr algn="l">
              <a:lnSpc>
                <a:spcPct val="120000"/>
              </a:lnSpc>
            </a:pPr>
            <a:r>
              <a:rPr sz="1300" b="0">
                <a:solidFill>
                  <a:srgbClr val="EAF0F8"/>
                </a:solidFill>
                <a:latin typeface="Courier New"/>
              </a:rPr>
              <a:t>  baseUrl: process.env.SETHUCMS_BASE_URL,</a:t>
            </a:r>
          </a:p>
          <a:p>
            <a:pPr algn="l">
              <a:lnSpc>
                <a:spcPct val="120000"/>
              </a:lnSpc>
            </a:pPr>
            <a:r>
              <a:rPr sz="1300" b="0">
                <a:solidFill>
                  <a:srgbClr val="EAF0F8"/>
                </a:solidFill>
                <a:latin typeface="Courier New"/>
              </a:rPr>
              <a:t>  token: () =&gt; process.env.SETHUCMS_TOKEN,</a:t>
            </a:r>
          </a:p>
          <a:p>
            <a:pPr algn="l">
              <a:lnSpc>
                <a:spcPct val="120000"/>
              </a:lnSpc>
            </a:pPr>
            <a:r>
              <a:rPr sz="1300" b="0">
                <a:solidFill>
                  <a:srgbClr val="EAF0F8"/>
                </a:solidFill>
                <a:latin typeface="Courier New"/>
              </a:rPr>
              <a:t>});</a:t>
            </a:r>
          </a:p>
          <a:p>
            <a:pPr algn="l">
              <a:lnSpc>
                <a:spcPct val="120000"/>
              </a:lnSpc>
            </a:pPr>
            <a:r>
              <a:rPr sz="1300" b="0">
                <a:solidFill>
                  <a:srgbClr val="EAF0F8"/>
                </a:solidFill>
                <a:latin typeface="Courier New"/>
              </a:rPr>
              <a:t/>
            </a:r>
          </a:p>
          <a:p>
            <a:pPr algn="l">
              <a:lnSpc>
                <a:spcPct val="120000"/>
              </a:lnSpc>
            </a:pPr>
            <a:r>
              <a:rPr sz="1300" b="0">
                <a:solidFill>
                  <a:srgbClr val="EAF0F8"/>
                </a:solidFill>
                <a:latin typeface="Courier New"/>
              </a:rPr>
              <a:t>const page = await cms</a:t>
            </a:r>
          </a:p>
          <a:p>
            <a:pPr algn="l">
              <a:lnSpc>
                <a:spcPct val="120000"/>
              </a:lnSpc>
            </a:pPr>
            <a:r>
              <a:rPr sz="1300" b="0">
                <a:solidFill>
                  <a:srgbClr val="EAF0F8"/>
                </a:solidFill>
                <a:latin typeface="Courier New"/>
              </a:rPr>
              <a:t>  .collection(connectionId, 'projects')</a:t>
            </a:r>
          </a:p>
          <a:p>
            <a:pPr algn="l">
              <a:lnSpc>
                <a:spcPct val="120000"/>
              </a:lnSpc>
            </a:pPr>
            <a:r>
              <a:rPr sz="1300" b="0">
                <a:solidFill>
                  <a:srgbClr val="EAF0F8"/>
                </a:solidFill>
                <a:latin typeface="Courier New"/>
              </a:rPr>
              <a:t>  .where(eq('published', true))</a:t>
            </a:r>
          </a:p>
          <a:p>
            <a:pPr algn="l">
              <a:lnSpc>
                <a:spcPct val="120000"/>
              </a:lnSpc>
            </a:pPr>
            <a:r>
              <a:rPr sz="1300" b="0">
                <a:solidFill>
                  <a:srgbClr val="EAF0F8"/>
                </a:solidFill>
                <a:latin typeface="Courier New"/>
              </a:rPr>
              <a:t>  .list();</a:t>
            </a:r>
          </a:p>
        </p:txBody>
      </p:sp>
      <p:sp>
        <p:nvSpPr>
          <p:cNvPr id="7" name="TextBox 6"/>
          <p:cNvSpPr txBox="1"/>
          <p:nvPr/>
        </p:nvSpPr>
        <p:spPr>
          <a:xfrm>
            <a:off x="7772400" y="1828800"/>
            <a:ext cx="3566160" cy="36576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Server side only</a:t>
            </a:r>
          </a:p>
        </p:txBody>
      </p:sp>
      <p:sp>
        <p:nvSpPr>
          <p:cNvPr id="8" name="TextBox 7"/>
          <p:cNvSpPr txBox="1"/>
          <p:nvPr/>
        </p:nvSpPr>
        <p:spPr>
          <a:xfrm>
            <a:off x="7772400" y="2286000"/>
            <a:ext cx="3566160" cy="1280160"/>
          </a:xfrm>
          <a:prstGeom prst="rect">
            <a:avLst/>
          </a:prstGeom>
          <a:noFill/>
        </p:spPr>
        <p:txBody>
          <a:bodyPr wrap="square" lIns="0" rIns="0" tIns="0" bIns="0" anchor="t">
            <a:spAutoFit/>
          </a:bodyPr>
          <a:lstStyle/>
          <a:p>
            <a:pPr algn="l">
              <a:lnSpc>
                <a:spcPct val="115000"/>
              </a:lnSpc>
            </a:pPr>
            <a:r>
              <a:rPr sz="1400" b="0">
                <a:solidFill>
                  <a:srgbClr val="4A5568"/>
                </a:solidFill>
                <a:latin typeface="Arial"/>
              </a:rPr>
              <a:t>The website holds a viewer token in its server environment. Visitors never see it.</a:t>
            </a:r>
          </a:p>
        </p:txBody>
      </p:sp>
      <p:sp>
        <p:nvSpPr>
          <p:cNvPr id="9" name="TextBox 8"/>
          <p:cNvSpPr txBox="1"/>
          <p:nvPr/>
        </p:nvSpPr>
        <p:spPr>
          <a:xfrm>
            <a:off x="7772400" y="3657600"/>
            <a:ext cx="3566160" cy="36576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Typed and paged</a:t>
            </a:r>
          </a:p>
        </p:txBody>
      </p:sp>
      <p:sp>
        <p:nvSpPr>
          <p:cNvPr id="10" name="TextBox 9"/>
          <p:cNvSpPr txBox="1"/>
          <p:nvPr/>
        </p:nvSpPr>
        <p:spPr>
          <a:xfrm>
            <a:off x="7772400" y="4114800"/>
            <a:ext cx="3566160" cy="1463040"/>
          </a:xfrm>
          <a:prstGeom prst="rect">
            <a:avLst/>
          </a:prstGeom>
          <a:noFill/>
        </p:spPr>
        <p:txBody>
          <a:bodyPr wrap="square" lIns="0" rIns="0" tIns="0" bIns="0" anchor="t">
            <a:spAutoFit/>
          </a:bodyPr>
          <a:lstStyle/>
          <a:p>
            <a:pPr algn="l">
              <a:lnSpc>
                <a:spcPct val="115000"/>
              </a:lnSpc>
            </a:pPr>
            <a:r>
              <a:rPr sz="1400" b="0">
                <a:solidFill>
                  <a:srgbClr val="4A5568"/>
                </a:solidFill>
                <a:latin typeface="Arial"/>
              </a:rPr>
              <a:t>Filters, cursors and errors are handled by the SDK. Python and Dart clients are written but not yet run.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2340"/>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EAF0F8"/>
                </a:solidFill>
                <a:latin typeface="Arial"/>
              </a:rPr>
              <a:t>Live today: the gateway on Vercel</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8FA6C4"/>
                </a:solidFill>
                <a:latin typeface="Arial"/>
              </a:rPr>
              <a:t>SethuCMS · Technical blueprint</a:t>
            </a:r>
          </a:p>
        </p:txBody>
      </p:sp>
      <p:sp>
        <p:nvSpPr>
          <p:cNvPr id="5" name="Rounded Rectangle 4"/>
          <p:cNvSpPr/>
          <p:nvPr/>
        </p:nvSpPr>
        <p:spPr>
          <a:xfrm>
            <a:off x="822960" y="1920240"/>
            <a:ext cx="2512999" cy="2651760"/>
          </a:xfrm>
          <a:prstGeom prst="roundRect">
            <a:avLst>
              <a:gd name="adj" fmla="val 6000"/>
            </a:avLst>
          </a:prstGeom>
          <a:solidFill>
            <a:srgbClr val="16345C"/>
          </a:solidFill>
          <a:ln w="19050">
            <a:solidFill>
              <a:srgbClr val="2F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21408"/>
            <a:ext cx="2055799" cy="548640"/>
          </a:xfrm>
          <a:prstGeom prst="rect">
            <a:avLst/>
          </a:prstGeom>
          <a:noFill/>
        </p:spPr>
        <p:txBody>
          <a:bodyPr wrap="square" lIns="0" rIns="0" tIns="0" bIns="0" anchor="t">
            <a:spAutoFit/>
          </a:bodyPr>
          <a:lstStyle/>
          <a:p>
            <a:pPr algn="l">
              <a:lnSpc>
                <a:spcPct val="115000"/>
              </a:lnSpc>
            </a:pPr>
            <a:r>
              <a:rPr sz="1400" b="1">
                <a:solidFill>
                  <a:srgbClr val="F2B84B"/>
                </a:solidFill>
                <a:latin typeface="Arial"/>
              </a:rPr>
              <a:t>Gateway and admin app</a:t>
            </a:r>
          </a:p>
        </p:txBody>
      </p:sp>
      <p:sp>
        <p:nvSpPr>
          <p:cNvPr id="7" name="TextBox 6"/>
          <p:cNvSpPr txBox="1"/>
          <p:nvPr/>
        </p:nvSpPr>
        <p:spPr>
          <a:xfrm>
            <a:off x="1051560" y="2697480"/>
            <a:ext cx="2055799" cy="1737360"/>
          </a:xfrm>
          <a:prstGeom prst="rect">
            <a:avLst/>
          </a:prstGeom>
          <a:noFill/>
        </p:spPr>
        <p:txBody>
          <a:bodyPr wrap="square" lIns="0" rIns="0" tIns="0" bIns="0" anchor="t">
            <a:spAutoFit/>
          </a:bodyPr>
          <a:lstStyle/>
          <a:p>
            <a:pPr algn="l">
              <a:lnSpc>
                <a:spcPct val="115000"/>
              </a:lnSpc>
            </a:pPr>
            <a:r>
              <a:rPr sz="1350" b="0">
                <a:solidFill>
                  <a:srgbClr val="DCE6F2"/>
                </a:solidFill>
                <a:latin typeface="Arial"/>
              </a:rPr>
              <a:t>Served from one address on Vercel. Sign in with a token.</a:t>
            </a:r>
          </a:p>
        </p:txBody>
      </p:sp>
      <p:sp>
        <p:nvSpPr>
          <p:cNvPr id="8" name="Rounded Rectangle 7"/>
          <p:cNvSpPr/>
          <p:nvPr/>
        </p:nvSpPr>
        <p:spPr>
          <a:xfrm>
            <a:off x="3500551" y="1920240"/>
            <a:ext cx="2512999" cy="2651760"/>
          </a:xfrm>
          <a:prstGeom prst="roundRect">
            <a:avLst>
              <a:gd name="adj" fmla="val 6000"/>
            </a:avLst>
          </a:prstGeom>
          <a:solidFill>
            <a:srgbClr val="16345C"/>
          </a:solidFill>
          <a:ln w="19050">
            <a:solidFill>
              <a:srgbClr val="2F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29151" y="2121408"/>
            <a:ext cx="2055799" cy="548640"/>
          </a:xfrm>
          <a:prstGeom prst="rect">
            <a:avLst/>
          </a:prstGeom>
          <a:noFill/>
        </p:spPr>
        <p:txBody>
          <a:bodyPr wrap="square" lIns="0" rIns="0" tIns="0" bIns="0" anchor="t">
            <a:spAutoFit/>
          </a:bodyPr>
          <a:lstStyle/>
          <a:p>
            <a:pPr algn="l">
              <a:lnSpc>
                <a:spcPct val="115000"/>
              </a:lnSpc>
            </a:pPr>
            <a:r>
              <a:rPr sz="1400" b="1">
                <a:solidFill>
                  <a:srgbClr val="F2B84B"/>
                </a:solidFill>
                <a:latin typeface="Arial"/>
              </a:rPr>
              <a:t>Shared state</a:t>
            </a:r>
          </a:p>
        </p:txBody>
      </p:sp>
      <p:sp>
        <p:nvSpPr>
          <p:cNvPr id="10" name="TextBox 9"/>
          <p:cNvSpPr txBox="1"/>
          <p:nvPr/>
        </p:nvSpPr>
        <p:spPr>
          <a:xfrm>
            <a:off x="3729151" y="2697480"/>
            <a:ext cx="2055799" cy="1737360"/>
          </a:xfrm>
          <a:prstGeom prst="rect">
            <a:avLst/>
          </a:prstGeom>
          <a:noFill/>
        </p:spPr>
        <p:txBody>
          <a:bodyPr wrap="square" lIns="0" rIns="0" tIns="0" bIns="0" anchor="t">
            <a:spAutoFit/>
          </a:bodyPr>
          <a:lstStyle/>
          <a:p>
            <a:pPr algn="l">
              <a:lnSpc>
                <a:spcPct val="115000"/>
              </a:lnSpc>
            </a:pPr>
            <a:r>
              <a:rPr sz="1350" b="0">
                <a:solidFill>
                  <a:srgbClr val="DCE6F2"/>
                </a:solidFill>
                <a:latin typeface="Arial"/>
              </a:rPr>
              <a:t>Connections, tokens and audit log live in Firestore, so many serverless functions agree.</a:t>
            </a:r>
          </a:p>
        </p:txBody>
      </p:sp>
      <p:sp>
        <p:nvSpPr>
          <p:cNvPr id="11" name="Rounded Rectangle 10"/>
          <p:cNvSpPr/>
          <p:nvPr/>
        </p:nvSpPr>
        <p:spPr>
          <a:xfrm>
            <a:off x="6178143" y="1920240"/>
            <a:ext cx="2512999" cy="2651760"/>
          </a:xfrm>
          <a:prstGeom prst="roundRect">
            <a:avLst>
              <a:gd name="adj" fmla="val 6000"/>
            </a:avLst>
          </a:prstGeom>
          <a:solidFill>
            <a:srgbClr val="16345C"/>
          </a:solidFill>
          <a:ln w="19050">
            <a:solidFill>
              <a:srgbClr val="2F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6743" y="2121408"/>
            <a:ext cx="2055799" cy="548640"/>
          </a:xfrm>
          <a:prstGeom prst="rect">
            <a:avLst/>
          </a:prstGeom>
          <a:noFill/>
        </p:spPr>
        <p:txBody>
          <a:bodyPr wrap="square" lIns="0" rIns="0" tIns="0" bIns="0" anchor="t">
            <a:spAutoFit/>
          </a:bodyPr>
          <a:lstStyle/>
          <a:p>
            <a:pPr algn="l">
              <a:lnSpc>
                <a:spcPct val="115000"/>
              </a:lnSpc>
            </a:pPr>
            <a:r>
              <a:rPr sz="1400" b="1">
                <a:solidFill>
                  <a:srgbClr val="F2B84B"/>
                </a:solidFill>
                <a:latin typeface="Arial"/>
              </a:rPr>
              <a:t>Your content</a:t>
            </a:r>
          </a:p>
        </p:txBody>
      </p:sp>
      <p:sp>
        <p:nvSpPr>
          <p:cNvPr id="13" name="TextBox 12"/>
          <p:cNvSpPr txBox="1"/>
          <p:nvPr/>
        </p:nvSpPr>
        <p:spPr>
          <a:xfrm>
            <a:off x="6406743" y="2697480"/>
            <a:ext cx="2055799" cy="1737360"/>
          </a:xfrm>
          <a:prstGeom prst="rect">
            <a:avLst/>
          </a:prstGeom>
          <a:noFill/>
        </p:spPr>
        <p:txBody>
          <a:bodyPr wrap="square" lIns="0" rIns="0" tIns="0" bIns="0" anchor="t">
            <a:spAutoFit/>
          </a:bodyPr>
          <a:lstStyle/>
          <a:p>
            <a:pPr algn="l">
              <a:lnSpc>
                <a:spcPct val="115000"/>
              </a:lnSpc>
            </a:pPr>
            <a:r>
              <a:rPr sz="1350" b="0">
                <a:solidFill>
                  <a:srgbClr val="DCE6F2"/>
                </a:solidFill>
                <a:latin typeface="Arial"/>
              </a:rPr>
              <a:t>A separate database, added as a read-only connection with only chosen collections exposed.</a:t>
            </a:r>
          </a:p>
        </p:txBody>
      </p:sp>
      <p:sp>
        <p:nvSpPr>
          <p:cNvPr id="14" name="Rounded Rectangle 13"/>
          <p:cNvSpPr/>
          <p:nvPr/>
        </p:nvSpPr>
        <p:spPr>
          <a:xfrm>
            <a:off x="8855735" y="1920240"/>
            <a:ext cx="2512999" cy="2651760"/>
          </a:xfrm>
          <a:prstGeom prst="roundRect">
            <a:avLst>
              <a:gd name="adj" fmla="val 6000"/>
            </a:avLst>
          </a:prstGeom>
          <a:solidFill>
            <a:srgbClr val="16345C"/>
          </a:solidFill>
          <a:ln w="19050">
            <a:solidFill>
              <a:srgbClr val="2F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84335" y="2121408"/>
            <a:ext cx="2055799" cy="548640"/>
          </a:xfrm>
          <a:prstGeom prst="rect">
            <a:avLst/>
          </a:prstGeom>
          <a:noFill/>
        </p:spPr>
        <p:txBody>
          <a:bodyPr wrap="square" lIns="0" rIns="0" tIns="0" bIns="0" anchor="t">
            <a:spAutoFit/>
          </a:bodyPr>
          <a:lstStyle/>
          <a:p>
            <a:pPr algn="l">
              <a:lnSpc>
                <a:spcPct val="115000"/>
              </a:lnSpc>
            </a:pPr>
            <a:r>
              <a:rPr sz="1400" b="1">
                <a:solidFill>
                  <a:srgbClr val="F2B84B"/>
                </a:solidFill>
                <a:latin typeface="Arial"/>
              </a:rPr>
              <a:t>Ten npm packages</a:t>
            </a:r>
          </a:p>
        </p:txBody>
      </p:sp>
      <p:sp>
        <p:nvSpPr>
          <p:cNvPr id="16" name="TextBox 15"/>
          <p:cNvSpPr txBox="1"/>
          <p:nvPr/>
        </p:nvSpPr>
        <p:spPr>
          <a:xfrm>
            <a:off x="9084335" y="2697480"/>
            <a:ext cx="2055799" cy="1737360"/>
          </a:xfrm>
          <a:prstGeom prst="rect">
            <a:avLst/>
          </a:prstGeom>
          <a:noFill/>
        </p:spPr>
        <p:txBody>
          <a:bodyPr wrap="square" lIns="0" rIns="0" tIns="0" bIns="0" anchor="t">
            <a:spAutoFit/>
          </a:bodyPr>
          <a:lstStyle/>
          <a:p>
            <a:pPr algn="l">
              <a:lnSpc>
                <a:spcPct val="115000"/>
              </a:lnSpc>
            </a:pPr>
            <a:r>
              <a:rPr sz="1350" b="0">
                <a:solidFill>
                  <a:srgbClr val="DCE6F2"/>
                </a:solidFill>
                <a:latin typeface="Arial"/>
              </a:rPr>
              <a:t>Core, adapters, SDK and kits, all at 0.1.0 under @sethucms.</a:t>
            </a:r>
          </a:p>
        </p:txBody>
      </p:sp>
      <p:sp>
        <p:nvSpPr>
          <p:cNvPr id="17" name="TextBox 16"/>
          <p:cNvSpPr txBox="1"/>
          <p:nvPr/>
        </p:nvSpPr>
        <p:spPr>
          <a:xfrm>
            <a:off x="822960" y="4937760"/>
            <a:ext cx="10545775" cy="640080"/>
          </a:xfrm>
          <a:prstGeom prst="rect">
            <a:avLst/>
          </a:prstGeom>
          <a:noFill/>
        </p:spPr>
        <p:txBody>
          <a:bodyPr wrap="square" lIns="0" rIns="0" tIns="0" bIns="0" anchor="t">
            <a:spAutoFit/>
          </a:bodyPr>
          <a:lstStyle/>
          <a:p>
            <a:pPr algn="l">
              <a:lnSpc>
                <a:spcPct val="115000"/>
              </a:lnSpc>
            </a:pPr>
            <a:r>
              <a:rPr sz="1600" b="0">
                <a:solidFill>
                  <a:srgbClr val="BFD0E6"/>
                </a:solidFill>
                <a:latin typeface="Arial"/>
              </a:rPr>
              <a:t>The Firestore state store passes 7 live tests against the emulator, including two gateways writing at once.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Move data between databases through the gateway</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Technical blueprint</a:t>
            </a:r>
          </a:p>
        </p:txBody>
      </p:sp>
      <p:sp>
        <p:nvSpPr>
          <p:cNvPr id="5" name="Rounded Rectangle 4"/>
          <p:cNvSpPr/>
          <p:nvPr/>
        </p:nvSpPr>
        <p:spPr>
          <a:xfrm>
            <a:off x="822960" y="1920240"/>
            <a:ext cx="3381146" cy="237744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21408"/>
            <a:ext cx="2923946"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Plan</a:t>
            </a:r>
          </a:p>
        </p:txBody>
      </p:sp>
      <p:sp>
        <p:nvSpPr>
          <p:cNvPr id="7" name="TextBox 6"/>
          <p:cNvSpPr txBox="1"/>
          <p:nvPr/>
        </p:nvSpPr>
        <p:spPr>
          <a:xfrm>
            <a:off x="1051560" y="2697480"/>
            <a:ext cx="2923946" cy="1463040"/>
          </a:xfrm>
          <a:prstGeom prst="rect">
            <a:avLst/>
          </a:prstGeom>
          <a:noFill/>
        </p:spPr>
        <p:txBody>
          <a:bodyPr wrap="square" lIns="0" rIns="0" tIns="0" bIns="0" anchor="t">
            <a:spAutoFit/>
          </a:bodyPr>
          <a:lstStyle/>
          <a:p>
            <a:pPr algn="l">
              <a:lnSpc>
                <a:spcPct val="115000"/>
              </a:lnSpc>
            </a:pPr>
            <a:r>
              <a:rPr sz="1450" b="0">
                <a:solidFill>
                  <a:srgbClr val="4A5568"/>
                </a:solidFill>
                <a:latin typeface="Arial"/>
              </a:rPr>
              <a:t>Dry run lists every collection, field mapping and problem before anything is written.</a:t>
            </a:r>
          </a:p>
        </p:txBody>
      </p:sp>
      <p:sp>
        <p:nvSpPr>
          <p:cNvPr id="8" name="Rounded Rectangle 7"/>
          <p:cNvSpPr/>
          <p:nvPr/>
        </p:nvSpPr>
        <p:spPr>
          <a:xfrm>
            <a:off x="4405274" y="1920240"/>
            <a:ext cx="3381146" cy="237744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3874" y="2121408"/>
            <a:ext cx="2923946"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Run</a:t>
            </a:r>
          </a:p>
        </p:txBody>
      </p:sp>
      <p:sp>
        <p:nvSpPr>
          <p:cNvPr id="10" name="TextBox 9"/>
          <p:cNvSpPr txBox="1"/>
          <p:nvPr/>
        </p:nvSpPr>
        <p:spPr>
          <a:xfrm>
            <a:off x="4633874" y="2697480"/>
            <a:ext cx="2923946" cy="1463040"/>
          </a:xfrm>
          <a:prstGeom prst="rect">
            <a:avLst/>
          </a:prstGeom>
          <a:noFill/>
        </p:spPr>
        <p:txBody>
          <a:bodyPr wrap="square" lIns="0" rIns="0" tIns="0" bIns="0" anchor="t">
            <a:spAutoFit/>
          </a:bodyPr>
          <a:lstStyle/>
          <a:p>
            <a:pPr algn="l">
              <a:lnSpc>
                <a:spcPct val="115000"/>
              </a:lnSpc>
            </a:pPr>
            <a:r>
              <a:rPr sz="1450" b="0">
                <a:solidFill>
                  <a:srgbClr val="4A5568"/>
                </a:solidFill>
                <a:latin typeface="Arial"/>
              </a:rPr>
              <a:t>Copies in the background, one collection at a time. Progress can be followed and cancelled.</a:t>
            </a:r>
          </a:p>
        </p:txBody>
      </p:sp>
      <p:sp>
        <p:nvSpPr>
          <p:cNvPr id="11" name="Rounded Rectangle 10"/>
          <p:cNvSpPr/>
          <p:nvPr/>
        </p:nvSpPr>
        <p:spPr>
          <a:xfrm>
            <a:off x="7987588" y="1920240"/>
            <a:ext cx="3381146" cy="237744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6188" y="2121408"/>
            <a:ext cx="2923946"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Check</a:t>
            </a:r>
          </a:p>
        </p:txBody>
      </p:sp>
      <p:sp>
        <p:nvSpPr>
          <p:cNvPr id="13" name="TextBox 12"/>
          <p:cNvSpPr txBox="1"/>
          <p:nvPr/>
        </p:nvSpPr>
        <p:spPr>
          <a:xfrm>
            <a:off x="8216188" y="2697480"/>
            <a:ext cx="2923946" cy="1463040"/>
          </a:xfrm>
          <a:prstGeom prst="rect">
            <a:avLst/>
          </a:prstGeom>
          <a:noFill/>
        </p:spPr>
        <p:txBody>
          <a:bodyPr wrap="square" lIns="0" rIns="0" tIns="0" bIns="0" anchor="t">
            <a:spAutoFit/>
          </a:bodyPr>
          <a:lstStyle/>
          <a:p>
            <a:pPr algn="l">
              <a:lnSpc>
                <a:spcPct val="115000"/>
              </a:lnSpc>
            </a:pPr>
            <a:r>
              <a:rPr sz="1450" b="0">
                <a:solidFill>
                  <a:srgbClr val="4A5568"/>
                </a:solidFill>
                <a:latin typeface="Arial"/>
              </a:rPr>
              <a:t>Record counts are compared before and after, and each stored record is compared with what was sent.</a:t>
            </a:r>
          </a:p>
        </p:txBody>
      </p:sp>
      <p:sp>
        <p:nvSpPr>
          <p:cNvPr id="14" name="TextBox 13"/>
          <p:cNvSpPr txBox="1"/>
          <p:nvPr/>
        </p:nvSpPr>
        <p:spPr>
          <a:xfrm>
            <a:off x="822960" y="4663440"/>
            <a:ext cx="10545775" cy="640080"/>
          </a:xfrm>
          <a:prstGeom prst="rect">
            <a:avLst/>
          </a:prstGeom>
          <a:noFill/>
        </p:spPr>
        <p:txBody>
          <a:bodyPr wrap="square" lIns="0" rIns="0" tIns="0" bIns="0" anchor="t">
            <a:spAutoFit/>
          </a:bodyPr>
          <a:lstStyle/>
          <a:p>
            <a:pPr algn="l">
              <a:lnSpc>
                <a:spcPct val="115000"/>
              </a:lnSpc>
            </a:pPr>
            <a:r>
              <a:rPr sz="1500" b="0">
                <a:solidFill>
                  <a:srgbClr val="4A5568"/>
                </a:solidFill>
                <a:latin typeface="Arial"/>
              </a:rPr>
              <a:t>The source is only read. Verified between memory and PostgreSQL 16 in both directions; other pairs and very large tables are not yet tested.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Where 0.1.0 stands</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Technical blueprint</a:t>
            </a:r>
          </a:p>
        </p:txBody>
      </p:sp>
      <p:sp>
        <p:nvSpPr>
          <p:cNvPr id="5" name="Rounded Rectangle 4"/>
          <p:cNvSpPr/>
          <p:nvPr/>
        </p:nvSpPr>
        <p:spPr>
          <a:xfrm>
            <a:off x="822960" y="1737360"/>
            <a:ext cx="5212080" cy="4297680"/>
          </a:xfrm>
          <a:prstGeom prst="roundRect">
            <a:avLst>
              <a:gd name="adj" fmla="val 6000"/>
            </a:avLst>
          </a:prstGeom>
          <a:solidFill>
            <a:srgbClr val="FFFFFF"/>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20240"/>
            <a:ext cx="4572000" cy="457200"/>
          </a:xfrm>
          <a:prstGeom prst="rect">
            <a:avLst/>
          </a:prstGeom>
          <a:noFill/>
        </p:spPr>
        <p:txBody>
          <a:bodyPr wrap="square" lIns="0" rIns="0" tIns="0" bIns="0" anchor="t">
            <a:spAutoFit/>
          </a:bodyPr>
          <a:lstStyle/>
          <a:p>
            <a:pPr algn="l">
              <a:lnSpc>
                <a:spcPct val="115000"/>
              </a:lnSpc>
            </a:pPr>
            <a:r>
              <a:rPr sz="2400" b="1">
                <a:solidFill>
                  <a:srgbClr val="1F4E79"/>
                </a:solidFill>
                <a:latin typeface="Arial"/>
              </a:rPr>
              <a:t>Verified</a:t>
            </a:r>
          </a:p>
        </p:txBody>
      </p:sp>
      <p:sp>
        <p:nvSpPr>
          <p:cNvPr id="7" name="TextBox 6"/>
          <p:cNvSpPr txBox="1"/>
          <p:nvPr/>
        </p:nvSpPr>
        <p:spPr>
          <a:xfrm>
            <a:off x="1097280" y="2560320"/>
            <a:ext cx="4663440" cy="3383280"/>
          </a:xfrm>
          <a:prstGeom prst="rect">
            <a:avLst/>
          </a:prstGeom>
          <a:noFill/>
        </p:spPr>
        <p:txBody>
          <a:bodyPr wrap="square" lIns="0" rIns="0" tIns="0" bIns="0">
            <a:spAutoFit/>
          </a:bodyPr>
          <a:lstStyle/>
          <a:p>
            <a:pPr>
              <a:lnSpc>
                <a:spcPct val="110000"/>
              </a:lnSpc>
              <a:spcAft>
                <a:spcPts val="500"/>
              </a:spcAft>
            </a:pPr>
            <a:r>
              <a:rPr sz="1400">
                <a:solidFill>
                  <a:srgbClr val="14213D"/>
                </a:solidFill>
                <a:latin typeface="Arial"/>
              </a:rPr>
              <a:t>•  Core and conformance suite pass</a:t>
            </a:r>
          </a:p>
          <a:p>
            <a:pPr>
              <a:lnSpc>
                <a:spcPct val="110000"/>
              </a:lnSpc>
              <a:spcAft>
                <a:spcPts val="500"/>
              </a:spcAft>
            </a:pPr>
            <a:r>
              <a:rPr sz="1400">
                <a:solidFill>
                  <a:srgbClr val="14213D"/>
                </a:solidFill>
                <a:latin typeface="Arial"/>
              </a:rPr>
              <a:t>•  PostgreSQL, MySQL, MariaDB and SQLite on real servers</a:t>
            </a:r>
          </a:p>
          <a:p>
            <a:pPr>
              <a:lnSpc>
                <a:spcPct val="110000"/>
              </a:lnSpc>
              <a:spcAft>
                <a:spcPts val="500"/>
              </a:spcAft>
            </a:pPr>
            <a:r>
              <a:rPr sz="1400">
                <a:solidFill>
                  <a:srgbClr val="14213D"/>
                </a:solidFill>
                <a:latin typeface="Arial"/>
              </a:rPr>
              <a:t>•  Vault, tokens, audit chain, network guard</a:t>
            </a:r>
          </a:p>
          <a:p>
            <a:pPr>
              <a:lnSpc>
                <a:spcPct val="110000"/>
              </a:lnSpc>
              <a:spcAft>
                <a:spcPts val="500"/>
              </a:spcAft>
            </a:pPr>
            <a:r>
              <a:rPr sz="1400">
                <a:solidFill>
                  <a:srgbClr val="14213D"/>
                </a:solidFill>
                <a:latin typeface="Arial"/>
              </a:rPr>
              <a:t>•  Drafts, publish and live preview</a:t>
            </a:r>
          </a:p>
          <a:p>
            <a:pPr>
              <a:lnSpc>
                <a:spcPct val="110000"/>
              </a:lnSpc>
              <a:spcAft>
                <a:spcPts val="500"/>
              </a:spcAft>
            </a:pPr>
            <a:r>
              <a:rPr sz="1400">
                <a:solidFill>
                  <a:srgbClr val="14213D"/>
                </a:solidFill>
                <a:latin typeface="Arial"/>
              </a:rPr>
              <a:t>•  Two gateways on one shared state</a:t>
            </a:r>
          </a:p>
          <a:p>
            <a:pPr>
              <a:lnSpc>
                <a:spcPct val="110000"/>
              </a:lnSpc>
              <a:spcAft>
                <a:spcPts val="500"/>
              </a:spcAft>
            </a:pPr>
            <a:r>
              <a:rPr sz="1400">
                <a:solidFill>
                  <a:srgbClr val="14213D"/>
                </a:solidFill>
                <a:latin typeface="Arial"/>
              </a:rPr>
              <a:t>•  Ten packages published on npm</a:t>
            </a:r>
          </a:p>
        </p:txBody>
      </p:sp>
      <p:sp>
        <p:nvSpPr>
          <p:cNvPr id="8" name="Rounded Rectangle 7"/>
          <p:cNvSpPr/>
          <p:nvPr/>
        </p:nvSpPr>
        <p:spPr>
          <a:xfrm>
            <a:off x="6309360" y="1737360"/>
            <a:ext cx="5074920" cy="4297680"/>
          </a:xfrm>
          <a:prstGeom prst="roundRect">
            <a:avLst>
              <a:gd name="adj" fmla="val 6000"/>
            </a:avLst>
          </a:prstGeom>
          <a:solidFill>
            <a:srgbClr val="FFFFFF"/>
          </a:solidFill>
          <a:ln w="25400">
            <a:solidFill>
              <a:srgbClr val="9A5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20240"/>
            <a:ext cx="4572000" cy="457200"/>
          </a:xfrm>
          <a:prstGeom prst="rect">
            <a:avLst/>
          </a:prstGeom>
          <a:noFill/>
        </p:spPr>
        <p:txBody>
          <a:bodyPr wrap="square" lIns="0" rIns="0" tIns="0" bIns="0" anchor="t">
            <a:spAutoFit/>
          </a:bodyPr>
          <a:lstStyle/>
          <a:p>
            <a:pPr algn="l">
              <a:lnSpc>
                <a:spcPct val="115000"/>
              </a:lnSpc>
            </a:pPr>
            <a:r>
              <a:rPr sz="2400" b="1">
                <a:solidFill>
                  <a:srgbClr val="9A5B00"/>
                </a:solidFill>
                <a:latin typeface="Arial"/>
              </a:rPr>
              <a:t>Not yet verified</a:t>
            </a:r>
          </a:p>
        </p:txBody>
      </p:sp>
      <p:sp>
        <p:nvSpPr>
          <p:cNvPr id="10" name="TextBox 9"/>
          <p:cNvSpPr txBox="1"/>
          <p:nvPr/>
        </p:nvSpPr>
        <p:spPr>
          <a:xfrm>
            <a:off x="6583680" y="2560320"/>
            <a:ext cx="4572000" cy="3383280"/>
          </a:xfrm>
          <a:prstGeom prst="rect">
            <a:avLst/>
          </a:prstGeom>
          <a:noFill/>
        </p:spPr>
        <p:txBody>
          <a:bodyPr wrap="square" lIns="0" rIns="0" tIns="0" bIns="0">
            <a:spAutoFit/>
          </a:bodyPr>
          <a:lstStyle/>
          <a:p>
            <a:pPr>
              <a:lnSpc>
                <a:spcPct val="110000"/>
              </a:lnSpc>
              <a:spcAft>
                <a:spcPts val="500"/>
              </a:spcAft>
            </a:pPr>
            <a:r>
              <a:rPr sz="1400">
                <a:solidFill>
                  <a:srgbClr val="14213D"/>
                </a:solidFill>
                <a:latin typeface="Arial"/>
              </a:rPr>
              <a:t>•  MongoDB and Firestore on the real products</a:t>
            </a:r>
          </a:p>
          <a:p>
            <a:pPr>
              <a:lnSpc>
                <a:spcPct val="110000"/>
              </a:lnSpc>
              <a:spcAft>
                <a:spcPts val="500"/>
              </a:spcAft>
            </a:pPr>
            <a:r>
              <a:rPr sz="1400">
                <a:solidFill>
                  <a:srgbClr val="14213D"/>
                </a:solidFill>
                <a:latin typeface="Arial"/>
              </a:rPr>
              <a:t>•  Container image and cloud deploy workflows end to end</a:t>
            </a:r>
          </a:p>
          <a:p>
            <a:pPr>
              <a:lnSpc>
                <a:spcPct val="110000"/>
              </a:lnSpc>
              <a:spcAft>
                <a:spcPts val="500"/>
              </a:spcAft>
            </a:pPr>
            <a:r>
              <a:rPr sz="1400">
                <a:solidFill>
                  <a:srgbClr val="14213D"/>
                </a:solidFill>
                <a:latin typeface="Arial"/>
              </a:rPr>
              <a:t>•  Single sign-on with a real identity provider</a:t>
            </a:r>
          </a:p>
          <a:p>
            <a:pPr>
              <a:lnSpc>
                <a:spcPct val="110000"/>
              </a:lnSpc>
              <a:spcAft>
                <a:spcPts val="500"/>
              </a:spcAft>
            </a:pPr>
            <a:r>
              <a:rPr sz="1400">
                <a:solidFill>
                  <a:srgbClr val="14213D"/>
                </a:solidFill>
                <a:latin typeface="Arial"/>
              </a:rPr>
              <a:t>•  Load tests and a penetration review</a:t>
            </a:r>
          </a:p>
          <a:p>
            <a:pPr>
              <a:lnSpc>
                <a:spcPct val="110000"/>
              </a:lnSpc>
              <a:spcAft>
                <a:spcPts val="500"/>
              </a:spcAft>
            </a:pPr>
            <a:r>
              <a:rPr sz="1400">
                <a:solidFill>
                  <a:srgbClr val="14213D"/>
                </a:solidFill>
                <a:latin typeface="Arial"/>
              </a:rPr>
              <a:t>•  Any users or revenue: none yet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Next: prove it, then widen it</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Technical blueprint</a:t>
            </a:r>
          </a:p>
        </p:txBody>
      </p:sp>
      <p:graphicFrame>
        <p:nvGraphicFramePr>
          <p:cNvPr id="5" name="Table 4"/>
          <p:cNvGraphicFramePr>
            <a:graphicFrameLocks noGrp="1"/>
          </p:cNvGraphicFramePr>
          <p:nvPr/>
        </p:nvGraphicFramePr>
        <p:xfrm>
          <a:off x="822960" y="1737360"/>
          <a:ext cx="10545774" cy="2971800"/>
        </p:xfrm>
        <a:graphic>
          <a:graphicData uri="http://schemas.openxmlformats.org/drawingml/2006/table">
            <a:tbl>
              <a:tblPr firstRow="1" bandRow="1">
                <a:tableStyleId>{5C22544A-7EE6-4342-B048-85BDC9FD1C3A}</a:tableStyleId>
              </a:tblPr>
              <a:tblGrid>
                <a:gridCol w="1898239"/>
                <a:gridCol w="8647535"/>
              </a:tblGrid>
              <a:tr h="594360">
                <a:tc>
                  <a:txBody>
                    <a:bodyPr wrap="square"/>
                    <a:lstStyle/>
                    <a:p>
                      <a:r>
                        <a:rPr sz="1500" b="1">
                          <a:solidFill>
                            <a:srgbClr val="FFFFFF"/>
                          </a:solidFill>
                          <a:latin typeface="Arial"/>
                        </a:rPr>
                        <a:t>When</a:t>
                      </a:r>
                    </a:p>
                  </a:txBody>
                  <a:tcPr marL="109728" marR="109728" marT="54864" marB="54864">
                    <a:solidFill>
                      <a:srgbClr val="1F4E79"/>
                    </a:solidFill>
                  </a:tcPr>
                </a:tc>
                <a:tc>
                  <a:txBody>
                    <a:bodyPr wrap="square"/>
                    <a:lstStyle/>
                    <a:p>
                      <a:r>
                        <a:rPr sz="1500" b="1">
                          <a:solidFill>
                            <a:srgbClr val="FFFFFF"/>
                          </a:solidFill>
                          <a:latin typeface="Arial"/>
                        </a:rPr>
                        <a:t>What</a:t>
                      </a:r>
                    </a:p>
                  </a:txBody>
                  <a:tcPr marL="109728" marR="109728" marT="54864" marB="54864">
                    <a:solidFill>
                      <a:srgbClr val="1F4E79"/>
                    </a:solidFill>
                  </a:tcPr>
                </a:tc>
              </a:tr>
              <a:tr h="594360">
                <a:tc>
                  <a:txBody>
                    <a:bodyPr wrap="square"/>
                    <a:lstStyle/>
                    <a:p>
                      <a:r>
                        <a:rPr sz="1500" b="1">
                          <a:solidFill>
                            <a:srgbClr val="14213D"/>
                          </a:solidFill>
                          <a:latin typeface="Arial"/>
                        </a:rPr>
                        <a:t>First 30 days</a:t>
                      </a:r>
                    </a:p>
                  </a:txBody>
                  <a:tcPr marL="109728" marR="109728" marT="54864" marB="54864">
                    <a:solidFill>
                      <a:srgbClr val="FFFFFF"/>
                    </a:solidFill>
                  </a:tcPr>
                </a:tc>
                <a:tc>
                  <a:txBody>
                    <a:bodyPr wrap="square"/>
                    <a:lstStyle/>
                    <a:p>
                      <a:r>
                        <a:rPr sz="1500" b="0">
                          <a:solidFill>
                            <a:srgbClr val="14213D"/>
                          </a:solidFill>
                          <a:latin typeface="Arial"/>
                        </a:rPr>
                        <a:t>Run the container image and deploy workflows end to end. Test MongoDB and Firestore on real servers</a:t>
                      </a:r>
                    </a:p>
                  </a:txBody>
                  <a:tcPr marL="109728" marR="109728" marT="54864" marB="54864">
                    <a:solidFill>
                      <a:srgbClr val="FFFFFF"/>
                    </a:solidFill>
                  </a:tcPr>
                </a:tc>
              </a:tr>
              <a:tr h="594360">
                <a:tc>
                  <a:txBody>
                    <a:bodyPr wrap="square"/>
                    <a:lstStyle/>
                    <a:p>
                      <a:r>
                        <a:rPr sz="1500" b="1">
                          <a:solidFill>
                            <a:srgbClr val="14213D"/>
                          </a:solidFill>
                          <a:latin typeface="Arial"/>
                        </a:rPr>
                        <a:t>Days 30 to 60</a:t>
                      </a:r>
                    </a:p>
                  </a:txBody>
                  <a:tcPr marL="109728" marR="109728" marT="54864" marB="54864">
                    <a:solidFill>
                      <a:srgbClr val="EEF1F6"/>
                    </a:solidFill>
                  </a:tcPr>
                </a:tc>
                <a:tc>
                  <a:txBody>
                    <a:bodyPr wrap="square"/>
                    <a:lstStyle/>
                    <a:p>
                      <a:r>
                        <a:rPr sz="1500" b="0">
                          <a:solidFill>
                            <a:srgbClr val="14213D"/>
                          </a:solidFill>
                          <a:latin typeface="Arial"/>
                        </a:rPr>
                        <a:t>First design-partner deployment on non-critical data. Native change capture from the databases</a:t>
                      </a:r>
                    </a:p>
                  </a:txBody>
                  <a:tcPr marL="109728" marR="109728" marT="54864" marB="54864">
                    <a:solidFill>
                      <a:srgbClr val="EEF1F6"/>
                    </a:solidFill>
                  </a:tcPr>
                </a:tc>
              </a:tr>
              <a:tr h="594360">
                <a:tc>
                  <a:txBody>
                    <a:bodyPr wrap="square"/>
                    <a:lstStyle/>
                    <a:p>
                      <a:r>
                        <a:rPr sz="1500" b="1">
                          <a:solidFill>
                            <a:srgbClr val="14213D"/>
                          </a:solidFill>
                          <a:latin typeface="Arial"/>
                        </a:rPr>
                        <a:t>Days 60 to 90</a:t>
                      </a:r>
                    </a:p>
                  </a:txBody>
                  <a:tcPr marL="109728" marR="109728" marT="54864" marB="54864">
                    <a:solidFill>
                      <a:srgbClr val="FFFFFF"/>
                    </a:solidFill>
                  </a:tcPr>
                </a:tc>
                <a:tc>
                  <a:txBody>
                    <a:bodyPr wrap="square"/>
                    <a:lstStyle/>
                    <a:p>
                      <a:r>
                        <a:rPr sz="1500" b="0">
                          <a:solidFill>
                            <a:srgbClr val="14213D"/>
                          </a:solidFill>
                          <a:latin typeface="Arial"/>
                        </a:rPr>
                        <a:t>Custom roles and webhook screens in the admin app. Load tests and a security review</a:t>
                      </a:r>
                    </a:p>
                  </a:txBody>
                  <a:tcPr marL="109728" marR="109728" marT="54864" marB="54864">
                    <a:solidFill>
                      <a:srgbClr val="FFFFFF"/>
                    </a:solidFill>
                  </a:tcPr>
                </a:tc>
              </a:tr>
              <a:tr h="594360">
                <a:tc>
                  <a:txBody>
                    <a:bodyPr wrap="square"/>
                    <a:lstStyle/>
                    <a:p>
                      <a:r>
                        <a:rPr sz="1500" b="1">
                          <a:solidFill>
                            <a:srgbClr val="14213D"/>
                          </a:solidFill>
                          <a:latin typeface="Arial"/>
                        </a:rPr>
                        <a:t>After that</a:t>
                      </a:r>
                    </a:p>
                  </a:txBody>
                  <a:tcPr marL="109728" marR="109728" marT="54864" marB="54864">
                    <a:solidFill>
                      <a:srgbClr val="EEF1F6"/>
                    </a:solidFill>
                  </a:tcPr>
                </a:tc>
                <a:tc>
                  <a:txBody>
                    <a:bodyPr wrap="square"/>
                    <a:lstStyle/>
                    <a:p>
                      <a:r>
                        <a:rPr sz="1500" b="0">
                          <a:solidFill>
                            <a:srgbClr val="14213D"/>
                          </a:solidFill>
                          <a:latin typeface="Arial"/>
                        </a:rPr>
                        <a:t>Business dashboards, a create-sethucms starter, React and Angular helpers, SQL Server and DynamoDB adapters</a:t>
                      </a:r>
                    </a:p>
                  </a:txBody>
                  <a:tcPr marL="109728" marR="109728" marT="54864" marB="54864">
                    <a:solidFill>
                      <a:srgbClr val="EEF1F6"/>
                    </a:solidFill>
                  </a:tcPr>
                </a:tc>
              </a:tr>
            </a:tbl>
          </a:graphicData>
        </a:graphic>
      </p:graphicFrame>
      <p:sp>
        <p:nvSpPr>
          <p:cNvPr id="6" name="TextBox 5"/>
          <p:cNvSpPr txBox="1"/>
          <p:nvPr/>
        </p:nvSpPr>
        <p:spPr>
          <a:xfrm>
            <a:off x="822960" y="5029200"/>
            <a:ext cx="10545775" cy="640080"/>
          </a:xfrm>
          <a:prstGeom prst="rect">
            <a:avLst/>
          </a:prstGeom>
          <a:noFill/>
        </p:spPr>
        <p:txBody>
          <a:bodyPr wrap="square" lIns="0" rIns="0" tIns="0" bIns="0" anchor="t">
            <a:spAutoFit/>
          </a:bodyPr>
          <a:lstStyle/>
          <a:p>
            <a:pPr algn="l">
              <a:lnSpc>
                <a:spcPct val="115000"/>
              </a:lnSpc>
            </a:pPr>
            <a:r>
              <a:rPr sz="1500" b="0">
                <a:solidFill>
                  <a:srgbClr val="4A5568"/>
                </a:solidFill>
                <a:latin typeface="Arial"/>
              </a:rPr>
              <a:t>Dates are plans, not promises. Each step ships with a public test result.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Upcoming: agents, dashboards and a revenue model</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Technical blueprint</a:t>
            </a:r>
          </a:p>
        </p:txBody>
      </p:sp>
      <p:sp>
        <p:nvSpPr>
          <p:cNvPr id="5" name="Rounded Rectangle 4"/>
          <p:cNvSpPr/>
          <p:nvPr/>
        </p:nvSpPr>
        <p:spPr>
          <a:xfrm>
            <a:off x="822960" y="1920240"/>
            <a:ext cx="3381146" cy="265176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21408"/>
            <a:ext cx="2923946"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Agentic schema writer</a:t>
            </a:r>
          </a:p>
        </p:txBody>
      </p:sp>
      <p:sp>
        <p:nvSpPr>
          <p:cNvPr id="7" name="TextBox 6"/>
          <p:cNvSpPr txBox="1"/>
          <p:nvPr/>
        </p:nvSpPr>
        <p:spPr>
          <a:xfrm>
            <a:off x="1051560" y="2697480"/>
            <a:ext cx="2923946" cy="1737360"/>
          </a:xfrm>
          <a:prstGeom prst="rect">
            <a:avLst/>
          </a:prstGeom>
          <a:noFill/>
        </p:spPr>
        <p:txBody>
          <a:bodyPr wrap="square" lIns="0" rIns="0" tIns="0" bIns="0" anchor="t">
            <a:spAutoFit/>
          </a:bodyPr>
          <a:lstStyle/>
          <a:p>
            <a:pPr algn="l">
              <a:lnSpc>
                <a:spcPct val="115000"/>
              </a:lnSpc>
            </a:pPr>
            <a:r>
              <a:rPr sz="1450" b="0">
                <a:solidFill>
                  <a:srgbClr val="4A5568"/>
                </a:solidFill>
                <a:latin typeface="Arial"/>
              </a:rPr>
              <a:t>Describe the content you need in plain words. An AI agent drafts the database schema, shows the plan, and applies it only after you approve.</a:t>
            </a:r>
          </a:p>
        </p:txBody>
      </p:sp>
      <p:sp>
        <p:nvSpPr>
          <p:cNvPr id="8" name="Rounded Rectangle 7"/>
          <p:cNvSpPr/>
          <p:nvPr/>
        </p:nvSpPr>
        <p:spPr>
          <a:xfrm>
            <a:off x="4405274" y="1920240"/>
            <a:ext cx="3381146" cy="265176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3874" y="2121408"/>
            <a:ext cx="2923946"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Dashboards</a:t>
            </a:r>
          </a:p>
        </p:txBody>
      </p:sp>
      <p:sp>
        <p:nvSpPr>
          <p:cNvPr id="10" name="TextBox 9"/>
          <p:cNvSpPr txBox="1"/>
          <p:nvPr/>
        </p:nvSpPr>
        <p:spPr>
          <a:xfrm>
            <a:off x="4633874" y="2697480"/>
            <a:ext cx="2923946" cy="1737360"/>
          </a:xfrm>
          <a:prstGeom prst="rect">
            <a:avLst/>
          </a:prstGeom>
          <a:noFill/>
        </p:spPr>
        <p:txBody>
          <a:bodyPr wrap="square" lIns="0" rIns="0" tIns="0" bIns="0" anchor="t">
            <a:spAutoFit/>
          </a:bodyPr>
          <a:lstStyle/>
          <a:p>
            <a:pPr algn="l">
              <a:lnSpc>
                <a:spcPct val="115000"/>
              </a:lnSpc>
            </a:pPr>
            <a:r>
              <a:rPr sz="1450" b="0">
                <a:solidFill>
                  <a:srgbClr val="4A5568"/>
                </a:solidFill>
                <a:latin typeface="Arial"/>
              </a:rPr>
              <a:t>Business and vendor dashboards built on the same permissions, so each person sees only their own rows.</a:t>
            </a:r>
          </a:p>
        </p:txBody>
      </p:sp>
      <p:sp>
        <p:nvSpPr>
          <p:cNvPr id="11" name="Rounded Rectangle 10"/>
          <p:cNvSpPr/>
          <p:nvPr/>
        </p:nvSpPr>
        <p:spPr>
          <a:xfrm>
            <a:off x="7987588" y="1920240"/>
            <a:ext cx="3381146" cy="265176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6188" y="2121408"/>
            <a:ext cx="2923946" cy="548640"/>
          </a:xfrm>
          <a:prstGeom prst="rect">
            <a:avLst/>
          </a:prstGeom>
          <a:noFill/>
        </p:spPr>
        <p:txBody>
          <a:bodyPr wrap="square" lIns="0" rIns="0" tIns="0" bIns="0" anchor="t">
            <a:spAutoFit/>
          </a:bodyPr>
          <a:lstStyle/>
          <a:p>
            <a:pPr algn="l">
              <a:lnSpc>
                <a:spcPct val="115000"/>
              </a:lnSpc>
            </a:pPr>
            <a:r>
              <a:rPr sz="1900" b="1">
                <a:solidFill>
                  <a:srgbClr val="1F4E79"/>
                </a:solidFill>
                <a:latin typeface="Arial"/>
              </a:rPr>
              <a:t>Ads and paid plans</a:t>
            </a:r>
          </a:p>
        </p:txBody>
      </p:sp>
      <p:sp>
        <p:nvSpPr>
          <p:cNvPr id="13" name="TextBox 12"/>
          <p:cNvSpPr txBox="1"/>
          <p:nvPr/>
        </p:nvSpPr>
        <p:spPr>
          <a:xfrm>
            <a:off x="8216188" y="2697480"/>
            <a:ext cx="2923946" cy="1737360"/>
          </a:xfrm>
          <a:prstGeom prst="rect">
            <a:avLst/>
          </a:prstGeom>
          <a:noFill/>
        </p:spPr>
        <p:txBody>
          <a:bodyPr wrap="square" lIns="0" rIns="0" tIns="0" bIns="0" anchor="t">
            <a:spAutoFit/>
          </a:bodyPr>
          <a:lstStyle/>
          <a:p>
            <a:pPr algn="l">
              <a:lnSpc>
                <a:spcPct val="115000"/>
              </a:lnSpc>
            </a:pPr>
            <a:r>
              <a:rPr sz="1450" b="0">
                <a:solidFill>
                  <a:srgbClr val="4A5568"/>
                </a:solidFill>
                <a:latin typeface="Arial"/>
              </a:rPr>
              <a:t>A free plan supported by ads, and paid Pro and Ultra plans without them. Details on the next slide.</a:t>
            </a:r>
          </a:p>
        </p:txBody>
      </p:sp>
      <p:sp>
        <p:nvSpPr>
          <p:cNvPr id="14" name="TextBox 13"/>
          <p:cNvSpPr txBox="1"/>
          <p:nvPr/>
        </p:nvSpPr>
        <p:spPr>
          <a:xfrm>
            <a:off x="822960" y="4937760"/>
            <a:ext cx="10545775" cy="640080"/>
          </a:xfrm>
          <a:prstGeom prst="rect">
            <a:avLst/>
          </a:prstGeom>
          <a:noFill/>
        </p:spPr>
        <p:txBody>
          <a:bodyPr wrap="square" lIns="0" rIns="0" tIns="0" bIns="0" anchor="t">
            <a:spAutoFit/>
          </a:bodyPr>
          <a:lstStyle/>
          <a:p>
            <a:pPr algn="l">
              <a:lnSpc>
                <a:spcPct val="115000"/>
              </a:lnSpc>
            </a:pPr>
            <a:r>
              <a:rPr sz="1500" b="0">
                <a:solidFill>
                  <a:srgbClr val="4A5568"/>
                </a:solidFill>
                <a:latin typeface="Arial"/>
              </a:rPr>
              <a:t>None of these are built yet. They sit after the 90-day plan, and the agent will follow the same rule as drafts: it proposes, a person approves.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2340"/>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EAF0F8"/>
                </a:solidFill>
                <a:latin typeface="Arial"/>
              </a:rPr>
              <a:t>Planned plans: Free, Pro and Ultra</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8FA6C4"/>
                </a:solidFill>
                <a:latin typeface="Arial"/>
              </a:rPr>
              <a:t>SethuCMS · Technical blueprint</a:t>
            </a:r>
          </a:p>
        </p:txBody>
      </p:sp>
      <p:sp>
        <p:nvSpPr>
          <p:cNvPr id="5" name="Rounded Rectangle 4"/>
          <p:cNvSpPr/>
          <p:nvPr/>
        </p:nvSpPr>
        <p:spPr>
          <a:xfrm>
            <a:off x="822960" y="1920240"/>
            <a:ext cx="3381146" cy="3566160"/>
          </a:xfrm>
          <a:prstGeom prst="roundRect">
            <a:avLst>
              <a:gd name="adj" fmla="val 6000"/>
            </a:avLst>
          </a:prstGeom>
          <a:solidFill>
            <a:srgbClr val="16345C"/>
          </a:solidFill>
          <a:ln w="19050">
            <a:solidFill>
              <a:srgbClr val="2F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21408"/>
            <a:ext cx="2923946" cy="548640"/>
          </a:xfrm>
          <a:prstGeom prst="rect">
            <a:avLst/>
          </a:prstGeom>
          <a:noFill/>
        </p:spPr>
        <p:txBody>
          <a:bodyPr wrap="square" lIns="0" rIns="0" tIns="0" bIns="0" anchor="t">
            <a:spAutoFit/>
          </a:bodyPr>
          <a:lstStyle/>
          <a:p>
            <a:pPr algn="l">
              <a:lnSpc>
                <a:spcPct val="115000"/>
              </a:lnSpc>
            </a:pPr>
            <a:r>
              <a:rPr sz="2400" b="1">
                <a:solidFill>
                  <a:srgbClr val="F2B84B"/>
                </a:solidFill>
                <a:latin typeface="Arial"/>
              </a:rPr>
              <a:t>Free</a:t>
            </a:r>
          </a:p>
        </p:txBody>
      </p:sp>
      <p:sp>
        <p:nvSpPr>
          <p:cNvPr id="7" name="TextBox 6"/>
          <p:cNvSpPr txBox="1"/>
          <p:nvPr/>
        </p:nvSpPr>
        <p:spPr>
          <a:xfrm>
            <a:off x="1051560" y="2697480"/>
            <a:ext cx="2923946" cy="2651760"/>
          </a:xfrm>
          <a:prstGeom prst="rect">
            <a:avLst/>
          </a:prstGeom>
          <a:noFill/>
        </p:spPr>
        <p:txBody>
          <a:bodyPr wrap="square" lIns="0" rIns="0" tIns="0" bIns="0">
            <a:spAutoFit/>
          </a:bodyPr>
          <a:lstStyle/>
          <a:p>
            <a:pPr>
              <a:lnSpc>
                <a:spcPct val="110000"/>
              </a:lnSpc>
              <a:spcAft>
                <a:spcPts val="500"/>
              </a:spcAft>
            </a:pPr>
            <a:r>
              <a:rPr sz="1450">
                <a:solidFill>
                  <a:srgbClr val="DCE6F2"/>
                </a:solidFill>
                <a:latin typeface="Arial"/>
              </a:rPr>
              <a:t>•  Gateway, admin app, drafts, migration</a:t>
            </a:r>
          </a:p>
          <a:p>
            <a:pPr>
              <a:lnSpc>
                <a:spcPct val="110000"/>
              </a:lnSpc>
              <a:spcAft>
                <a:spcPts val="500"/>
              </a:spcAft>
            </a:pPr>
            <a:r>
              <a:rPr sz="1450">
                <a:solidFill>
                  <a:srgbClr val="DCE6F2"/>
                </a:solidFill>
                <a:latin typeface="Arial"/>
              </a:rPr>
              <a:t>•  Ads shown in the middle of the page</a:t>
            </a:r>
          </a:p>
          <a:p>
            <a:pPr>
              <a:lnSpc>
                <a:spcPct val="110000"/>
              </a:lnSpc>
              <a:spcAft>
                <a:spcPts val="500"/>
              </a:spcAft>
            </a:pPr>
            <a:r>
              <a:rPr sz="1450">
                <a:solidFill>
                  <a:srgbClr val="DCE6F2"/>
                </a:solidFill>
                <a:latin typeface="Arial"/>
              </a:rPr>
              <a:t>•  No agentic AI features</a:t>
            </a:r>
          </a:p>
        </p:txBody>
      </p:sp>
      <p:sp>
        <p:nvSpPr>
          <p:cNvPr id="8" name="Rounded Rectangle 7"/>
          <p:cNvSpPr/>
          <p:nvPr/>
        </p:nvSpPr>
        <p:spPr>
          <a:xfrm>
            <a:off x="4405274" y="1920240"/>
            <a:ext cx="3381146" cy="3566160"/>
          </a:xfrm>
          <a:prstGeom prst="roundRect">
            <a:avLst>
              <a:gd name="adj" fmla="val 6000"/>
            </a:avLst>
          </a:prstGeom>
          <a:solidFill>
            <a:srgbClr val="16345C"/>
          </a:solidFill>
          <a:ln w="19050">
            <a:solidFill>
              <a:srgbClr val="2F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3874" y="2121408"/>
            <a:ext cx="2923946" cy="548640"/>
          </a:xfrm>
          <a:prstGeom prst="rect">
            <a:avLst/>
          </a:prstGeom>
          <a:noFill/>
        </p:spPr>
        <p:txBody>
          <a:bodyPr wrap="square" lIns="0" rIns="0" tIns="0" bIns="0" anchor="t">
            <a:spAutoFit/>
          </a:bodyPr>
          <a:lstStyle/>
          <a:p>
            <a:pPr algn="l">
              <a:lnSpc>
                <a:spcPct val="115000"/>
              </a:lnSpc>
            </a:pPr>
            <a:r>
              <a:rPr sz="2400" b="1">
                <a:solidFill>
                  <a:srgbClr val="F2B84B"/>
                </a:solidFill>
                <a:latin typeface="Arial"/>
              </a:rPr>
              <a:t>Pro</a:t>
            </a:r>
          </a:p>
        </p:txBody>
      </p:sp>
      <p:sp>
        <p:nvSpPr>
          <p:cNvPr id="10" name="TextBox 9"/>
          <p:cNvSpPr txBox="1"/>
          <p:nvPr/>
        </p:nvSpPr>
        <p:spPr>
          <a:xfrm>
            <a:off x="4633874" y="2697480"/>
            <a:ext cx="2923946" cy="2651760"/>
          </a:xfrm>
          <a:prstGeom prst="rect">
            <a:avLst/>
          </a:prstGeom>
          <a:noFill/>
        </p:spPr>
        <p:txBody>
          <a:bodyPr wrap="square" lIns="0" rIns="0" tIns="0" bIns="0">
            <a:spAutoFit/>
          </a:bodyPr>
          <a:lstStyle/>
          <a:p>
            <a:pPr>
              <a:lnSpc>
                <a:spcPct val="110000"/>
              </a:lnSpc>
              <a:spcAft>
                <a:spcPts val="500"/>
              </a:spcAft>
            </a:pPr>
            <a:r>
              <a:rPr sz="1450">
                <a:solidFill>
                  <a:srgbClr val="DCE6F2"/>
                </a:solidFill>
                <a:latin typeface="Arial"/>
              </a:rPr>
              <a:t>•  Everything in Free</a:t>
            </a:r>
          </a:p>
          <a:p>
            <a:pPr>
              <a:lnSpc>
                <a:spcPct val="110000"/>
              </a:lnSpc>
              <a:spcAft>
                <a:spcPts val="500"/>
              </a:spcAft>
            </a:pPr>
            <a:r>
              <a:rPr sz="1450">
                <a:solidFill>
                  <a:srgbClr val="DCE6F2"/>
                </a:solidFill>
                <a:latin typeface="Arial"/>
              </a:rPr>
              <a:t>•  No ads</a:t>
            </a:r>
          </a:p>
          <a:p>
            <a:pPr>
              <a:lnSpc>
                <a:spcPct val="110000"/>
              </a:lnSpc>
              <a:spcAft>
                <a:spcPts val="500"/>
              </a:spcAft>
            </a:pPr>
            <a:r>
              <a:rPr sz="1450">
                <a:solidFill>
                  <a:srgbClr val="DCE6F2"/>
                </a:solidFill>
                <a:latin typeface="Arial"/>
              </a:rPr>
              <a:t>•  Agentic AI features, including the schema writer</a:t>
            </a:r>
          </a:p>
        </p:txBody>
      </p:sp>
      <p:sp>
        <p:nvSpPr>
          <p:cNvPr id="11" name="Rounded Rectangle 10"/>
          <p:cNvSpPr/>
          <p:nvPr/>
        </p:nvSpPr>
        <p:spPr>
          <a:xfrm>
            <a:off x="7987588" y="1920240"/>
            <a:ext cx="3381146" cy="3566160"/>
          </a:xfrm>
          <a:prstGeom prst="roundRect">
            <a:avLst>
              <a:gd name="adj" fmla="val 6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6188" y="2121408"/>
            <a:ext cx="2923946" cy="548640"/>
          </a:xfrm>
          <a:prstGeom prst="rect">
            <a:avLst/>
          </a:prstGeom>
          <a:noFill/>
        </p:spPr>
        <p:txBody>
          <a:bodyPr wrap="square" lIns="0" rIns="0" tIns="0" bIns="0" anchor="t">
            <a:spAutoFit/>
          </a:bodyPr>
          <a:lstStyle/>
          <a:p>
            <a:pPr algn="l">
              <a:lnSpc>
                <a:spcPct val="115000"/>
              </a:lnSpc>
            </a:pPr>
            <a:r>
              <a:rPr sz="2400" b="1">
                <a:solidFill>
                  <a:srgbClr val="0E2340"/>
                </a:solidFill>
                <a:latin typeface="Arial"/>
              </a:rPr>
              <a:t>Ultra</a:t>
            </a:r>
          </a:p>
        </p:txBody>
      </p:sp>
      <p:sp>
        <p:nvSpPr>
          <p:cNvPr id="13" name="TextBox 12"/>
          <p:cNvSpPr txBox="1"/>
          <p:nvPr/>
        </p:nvSpPr>
        <p:spPr>
          <a:xfrm>
            <a:off x="8216188" y="2697480"/>
            <a:ext cx="2923946" cy="2651760"/>
          </a:xfrm>
          <a:prstGeom prst="rect">
            <a:avLst/>
          </a:prstGeom>
          <a:noFill/>
        </p:spPr>
        <p:txBody>
          <a:bodyPr wrap="square" lIns="0" rIns="0" tIns="0" bIns="0">
            <a:spAutoFit/>
          </a:bodyPr>
          <a:lstStyle/>
          <a:p>
            <a:pPr>
              <a:lnSpc>
                <a:spcPct val="110000"/>
              </a:lnSpc>
              <a:spcAft>
                <a:spcPts val="500"/>
              </a:spcAft>
            </a:pPr>
            <a:r>
              <a:rPr sz="1450">
                <a:solidFill>
                  <a:srgbClr val="0E2340"/>
                </a:solidFill>
                <a:latin typeface="Arial"/>
              </a:rPr>
              <a:t>•  Everything in Pro</a:t>
            </a:r>
          </a:p>
          <a:p>
            <a:pPr>
              <a:lnSpc>
                <a:spcPct val="110000"/>
              </a:lnSpc>
              <a:spcAft>
                <a:spcPts val="500"/>
              </a:spcAft>
            </a:pPr>
            <a:r>
              <a:rPr sz="1450">
                <a:solidFill>
                  <a:srgbClr val="0E2340"/>
                </a:solidFill>
                <a:latin typeface="Arial"/>
              </a:rPr>
              <a:t>•  No ads</a:t>
            </a:r>
          </a:p>
          <a:p>
            <a:pPr>
              <a:lnSpc>
                <a:spcPct val="110000"/>
              </a:lnSpc>
              <a:spcAft>
                <a:spcPts val="500"/>
              </a:spcAft>
            </a:pPr>
            <a:r>
              <a:rPr sz="1450">
                <a:solidFill>
                  <a:srgbClr val="0E2340"/>
                </a:solidFill>
                <a:latin typeface="Arial"/>
              </a:rPr>
              <a:t>•  Agentic AI features, with higher limits [to be decided]</a:t>
            </a:r>
          </a:p>
          <a:p>
            <a:pPr>
              <a:lnSpc>
                <a:spcPct val="110000"/>
              </a:lnSpc>
              <a:spcAft>
                <a:spcPts val="500"/>
              </a:spcAft>
            </a:pPr>
            <a:r>
              <a:rPr sz="1450">
                <a:solidFill>
                  <a:srgbClr val="0E2340"/>
                </a:solidFill>
                <a:latin typeface="Arial"/>
              </a:rPr>
              <a:t>•  Discounts on extra databases (future, not available now)</a:t>
            </a:r>
          </a:p>
        </p:txBody>
      </p:sp>
      <p:sp>
        <p:nvSpPr>
          <p:cNvPr id="14" name="TextBox 13"/>
          <p:cNvSpPr txBox="1"/>
          <p:nvPr/>
        </p:nvSpPr>
        <p:spPr>
          <a:xfrm>
            <a:off x="822960" y="5669280"/>
            <a:ext cx="10545775" cy="640080"/>
          </a:xfrm>
          <a:prstGeom prst="rect">
            <a:avLst/>
          </a:prstGeom>
          <a:noFill/>
        </p:spPr>
        <p:txBody>
          <a:bodyPr wrap="square" lIns="0" rIns="0" tIns="0" bIns="0" anchor="t">
            <a:spAutoFit/>
          </a:bodyPr>
          <a:lstStyle/>
          <a:p>
            <a:pPr algn="l">
              <a:lnSpc>
                <a:spcPct val="115000"/>
              </a:lnSpc>
            </a:pPr>
            <a:r>
              <a:rPr sz="1300" b="0">
                <a:solidFill>
                  <a:srgbClr val="BFD0E6"/>
                </a:solidFill>
                <a:latin typeface="Arial"/>
              </a:rPr>
              <a:t>All plans are planned, not live. Prices and limits are not set. The open-source core stays MIT and free to self-host; these plans are for the hosted service.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How it earns: support first, hosting later</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Business case</a:t>
            </a:r>
          </a:p>
        </p:txBody>
      </p:sp>
      <p:sp>
        <p:nvSpPr>
          <p:cNvPr id="5" name="Rounded Rectangle 4"/>
          <p:cNvSpPr/>
          <p:nvPr/>
        </p:nvSpPr>
        <p:spPr>
          <a:xfrm>
            <a:off x="822960" y="1920240"/>
            <a:ext cx="3381146" cy="274320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21408"/>
            <a:ext cx="2923946" cy="548640"/>
          </a:xfrm>
          <a:prstGeom prst="rect">
            <a:avLst/>
          </a:prstGeom>
          <a:noFill/>
        </p:spPr>
        <p:txBody>
          <a:bodyPr wrap="square" lIns="0" rIns="0" tIns="0" bIns="0" anchor="t">
            <a:spAutoFit/>
          </a:bodyPr>
          <a:lstStyle/>
          <a:p>
            <a:pPr algn="l">
              <a:lnSpc>
                <a:spcPct val="115000"/>
              </a:lnSpc>
            </a:pPr>
            <a:r>
              <a:rPr sz="2200" b="1">
                <a:solidFill>
                  <a:srgbClr val="1F4E79"/>
                </a:solidFill>
                <a:latin typeface="Arial"/>
              </a:rPr>
              <a:t>Now</a:t>
            </a:r>
          </a:p>
        </p:txBody>
      </p:sp>
      <p:sp>
        <p:nvSpPr>
          <p:cNvPr id="7" name="TextBox 6"/>
          <p:cNvSpPr txBox="1"/>
          <p:nvPr/>
        </p:nvSpPr>
        <p:spPr>
          <a:xfrm>
            <a:off x="1051560" y="2697480"/>
            <a:ext cx="2923946" cy="1828800"/>
          </a:xfrm>
          <a:prstGeom prst="rect">
            <a:avLst/>
          </a:prstGeom>
          <a:noFill/>
        </p:spPr>
        <p:txBody>
          <a:bodyPr wrap="square" lIns="0" rIns="0" tIns="0" bIns="0">
            <a:spAutoFit/>
          </a:bodyPr>
          <a:lstStyle/>
          <a:p>
            <a:pPr>
              <a:lnSpc>
                <a:spcPct val="110000"/>
              </a:lnSpc>
              <a:spcAft>
                <a:spcPts val="500"/>
              </a:spcAft>
            </a:pPr>
            <a:r>
              <a:rPr sz="1450">
                <a:solidFill>
                  <a:srgbClr val="14213D"/>
                </a:solidFill>
                <a:latin typeface="Arial"/>
              </a:rPr>
              <a:t>•  Paid setup and support for design partners</a:t>
            </a:r>
          </a:p>
          <a:p>
            <a:pPr>
              <a:lnSpc>
                <a:spcPct val="110000"/>
              </a:lnSpc>
              <a:spcAft>
                <a:spcPts val="500"/>
              </a:spcAft>
            </a:pPr>
            <a:r>
              <a:rPr sz="1450">
                <a:solidFill>
                  <a:srgbClr val="14213D"/>
                </a:solidFill>
                <a:latin typeface="Arial"/>
              </a:rPr>
              <a:t>•  Grants and sponsorship as runway</a:t>
            </a:r>
          </a:p>
        </p:txBody>
      </p:sp>
      <p:sp>
        <p:nvSpPr>
          <p:cNvPr id="8" name="Rounded Rectangle 7"/>
          <p:cNvSpPr/>
          <p:nvPr/>
        </p:nvSpPr>
        <p:spPr>
          <a:xfrm>
            <a:off x="4405274" y="1920240"/>
            <a:ext cx="3381146" cy="274320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3874" y="2121408"/>
            <a:ext cx="2923946" cy="548640"/>
          </a:xfrm>
          <a:prstGeom prst="rect">
            <a:avLst/>
          </a:prstGeom>
          <a:noFill/>
        </p:spPr>
        <p:txBody>
          <a:bodyPr wrap="square" lIns="0" rIns="0" tIns="0" bIns="0" anchor="t">
            <a:spAutoFit/>
          </a:bodyPr>
          <a:lstStyle/>
          <a:p>
            <a:pPr algn="l">
              <a:lnSpc>
                <a:spcPct val="115000"/>
              </a:lnSpc>
            </a:pPr>
            <a:r>
              <a:rPr sz="2200" b="1">
                <a:solidFill>
                  <a:srgbClr val="1F4E79"/>
                </a:solidFill>
                <a:latin typeface="Arial"/>
              </a:rPr>
              <a:t>Later</a:t>
            </a:r>
          </a:p>
        </p:txBody>
      </p:sp>
      <p:sp>
        <p:nvSpPr>
          <p:cNvPr id="10" name="TextBox 9"/>
          <p:cNvSpPr txBox="1"/>
          <p:nvPr/>
        </p:nvSpPr>
        <p:spPr>
          <a:xfrm>
            <a:off x="4633874" y="2697480"/>
            <a:ext cx="2923946" cy="1828800"/>
          </a:xfrm>
          <a:prstGeom prst="rect">
            <a:avLst/>
          </a:prstGeom>
          <a:noFill/>
        </p:spPr>
        <p:txBody>
          <a:bodyPr wrap="square" lIns="0" rIns="0" tIns="0" bIns="0">
            <a:spAutoFit/>
          </a:bodyPr>
          <a:lstStyle/>
          <a:p>
            <a:pPr>
              <a:lnSpc>
                <a:spcPct val="110000"/>
              </a:lnSpc>
              <a:spcAft>
                <a:spcPts val="500"/>
              </a:spcAft>
            </a:pPr>
            <a:r>
              <a:rPr sz="1450">
                <a:solidFill>
                  <a:srgbClr val="14213D"/>
                </a:solidFill>
                <a:latin typeface="Arial"/>
              </a:rPr>
              <a:t>•  Hosted service with Free, Pro and Ultra plans</a:t>
            </a:r>
          </a:p>
          <a:p>
            <a:pPr>
              <a:lnSpc>
                <a:spcPct val="110000"/>
              </a:lnSpc>
              <a:spcAft>
                <a:spcPts val="500"/>
              </a:spcAft>
            </a:pPr>
            <a:r>
              <a:rPr sz="1450">
                <a:solidFill>
                  <a:srgbClr val="14213D"/>
                </a:solidFill>
                <a:latin typeface="Arial"/>
              </a:rPr>
              <a:t>•  Certified adapters and a plugin marketplace</a:t>
            </a:r>
          </a:p>
          <a:p>
            <a:pPr>
              <a:lnSpc>
                <a:spcPct val="110000"/>
              </a:lnSpc>
              <a:spcAft>
                <a:spcPts val="500"/>
              </a:spcAft>
            </a:pPr>
            <a:r>
              <a:rPr sz="1450">
                <a:solidFill>
                  <a:srgbClr val="14213D"/>
                </a:solidFill>
                <a:latin typeface="Arial"/>
              </a:rPr>
              <a:t>•  Decision on hosting at day 90, based on partner feedback</a:t>
            </a:r>
          </a:p>
        </p:txBody>
      </p:sp>
      <p:sp>
        <p:nvSpPr>
          <p:cNvPr id="11" name="Rounded Rectangle 10"/>
          <p:cNvSpPr/>
          <p:nvPr/>
        </p:nvSpPr>
        <p:spPr>
          <a:xfrm>
            <a:off x="7987588" y="1920240"/>
            <a:ext cx="3381146" cy="2743200"/>
          </a:xfrm>
          <a:prstGeom prst="roundRect">
            <a:avLst>
              <a:gd name="adj" fmla="val 6000"/>
            </a:avLst>
          </a:prstGeom>
          <a:solidFill>
            <a:srgbClr val="FFFFFF"/>
          </a:solidFill>
          <a:ln w="1905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6188" y="2121408"/>
            <a:ext cx="2923946" cy="548640"/>
          </a:xfrm>
          <a:prstGeom prst="rect">
            <a:avLst/>
          </a:prstGeom>
          <a:noFill/>
        </p:spPr>
        <p:txBody>
          <a:bodyPr wrap="square" lIns="0" rIns="0" tIns="0" bIns="0" anchor="t">
            <a:spAutoFit/>
          </a:bodyPr>
          <a:lstStyle/>
          <a:p>
            <a:pPr algn="l">
              <a:lnSpc>
                <a:spcPct val="115000"/>
              </a:lnSpc>
            </a:pPr>
            <a:r>
              <a:rPr sz="2200" b="1">
                <a:solidFill>
                  <a:srgbClr val="1F4E79"/>
                </a:solidFill>
                <a:latin typeface="Arial"/>
              </a:rPr>
              <a:t>Never</a:t>
            </a:r>
          </a:p>
        </p:txBody>
      </p:sp>
      <p:sp>
        <p:nvSpPr>
          <p:cNvPr id="13" name="TextBox 12"/>
          <p:cNvSpPr txBox="1"/>
          <p:nvPr/>
        </p:nvSpPr>
        <p:spPr>
          <a:xfrm>
            <a:off x="8216188" y="2697480"/>
            <a:ext cx="2923946" cy="1828800"/>
          </a:xfrm>
          <a:prstGeom prst="rect">
            <a:avLst/>
          </a:prstGeom>
          <a:noFill/>
        </p:spPr>
        <p:txBody>
          <a:bodyPr wrap="square" lIns="0" rIns="0" tIns="0" bIns="0">
            <a:spAutoFit/>
          </a:bodyPr>
          <a:lstStyle/>
          <a:p>
            <a:pPr>
              <a:lnSpc>
                <a:spcPct val="110000"/>
              </a:lnSpc>
              <a:spcAft>
                <a:spcPts val="500"/>
              </a:spcAft>
            </a:pPr>
            <a:r>
              <a:rPr sz="1450">
                <a:solidFill>
                  <a:srgbClr val="14213D"/>
                </a:solidFill>
                <a:latin typeface="Arial"/>
              </a:rPr>
              <a:t>•  A licence that limits who may use it</a:t>
            </a:r>
          </a:p>
          <a:p>
            <a:pPr>
              <a:lnSpc>
                <a:spcPct val="110000"/>
              </a:lnSpc>
              <a:spcAft>
                <a:spcPts val="500"/>
              </a:spcAft>
            </a:pPr>
            <a:r>
              <a:rPr sz="1450">
                <a:solidFill>
                  <a:srgbClr val="14213D"/>
                </a:solidFill>
                <a:latin typeface="Arial"/>
              </a:rPr>
              <a:t>•  Taking back features that already shipped</a:t>
            </a:r>
          </a:p>
        </p:txBody>
      </p:sp>
      <p:sp>
        <p:nvSpPr>
          <p:cNvPr id="14" name="TextBox 13"/>
          <p:cNvSpPr txBox="1"/>
          <p:nvPr/>
        </p:nvSpPr>
        <p:spPr>
          <a:xfrm>
            <a:off x="822960" y="5029200"/>
            <a:ext cx="10545775" cy="640080"/>
          </a:xfrm>
          <a:prstGeom prst="rect">
            <a:avLst/>
          </a:prstGeom>
          <a:noFill/>
        </p:spPr>
        <p:txBody>
          <a:bodyPr wrap="square" lIns="0" rIns="0" tIns="0" bIns="0" anchor="t">
            <a:spAutoFit/>
          </a:bodyPr>
          <a:lstStyle/>
          <a:p>
            <a:pPr algn="l">
              <a:lnSpc>
                <a:spcPct val="115000"/>
              </a:lnSpc>
            </a:pPr>
            <a:r>
              <a:rPr sz="1500" b="0">
                <a:solidFill>
                  <a:srgbClr val="4A5568"/>
                </a:solidFill>
                <a:latin typeface="Arial"/>
              </a:rPr>
              <a:t>MIT lets anyone host SethuCMS. Our protection is the trademark, the hosted service, adapter certification and expertise, not the licence.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2340"/>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EAF0F8"/>
                </a:solidFill>
                <a:latin typeface="Arial"/>
              </a:rPr>
              <a:t>What we commit to, and can prove</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8FA6C4"/>
                </a:solidFill>
                <a:latin typeface="Arial"/>
              </a:rPr>
              <a:t>SethuCMS · Business case</a:t>
            </a:r>
          </a:p>
        </p:txBody>
      </p:sp>
      <p:sp>
        <p:nvSpPr>
          <p:cNvPr id="5" name="Rounded Rectangle 4"/>
          <p:cNvSpPr/>
          <p:nvPr/>
        </p:nvSpPr>
        <p:spPr>
          <a:xfrm>
            <a:off x="822960" y="1920240"/>
            <a:ext cx="5172303" cy="1865376"/>
          </a:xfrm>
          <a:prstGeom prst="roundRect">
            <a:avLst>
              <a:gd name="adj" fmla="val 6000"/>
            </a:avLst>
          </a:prstGeom>
          <a:solidFill>
            <a:srgbClr val="16345C"/>
          </a:solidFill>
          <a:ln w="19050">
            <a:solidFill>
              <a:srgbClr val="2F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21408"/>
            <a:ext cx="4715103" cy="548640"/>
          </a:xfrm>
          <a:prstGeom prst="rect">
            <a:avLst/>
          </a:prstGeom>
          <a:noFill/>
        </p:spPr>
        <p:txBody>
          <a:bodyPr wrap="square" lIns="0" rIns="0" tIns="0" bIns="0" anchor="t">
            <a:spAutoFit/>
          </a:bodyPr>
          <a:lstStyle/>
          <a:p>
            <a:pPr algn="l">
              <a:lnSpc>
                <a:spcPct val="115000"/>
              </a:lnSpc>
            </a:pPr>
            <a:r>
              <a:rPr sz="1800" b="1">
                <a:solidFill>
                  <a:srgbClr val="F2B84B"/>
                </a:solidFill>
                <a:latin typeface="Arial"/>
              </a:rPr>
              <a:t>Licence</a:t>
            </a:r>
          </a:p>
        </p:txBody>
      </p:sp>
      <p:sp>
        <p:nvSpPr>
          <p:cNvPr id="7" name="TextBox 6"/>
          <p:cNvSpPr txBox="1"/>
          <p:nvPr/>
        </p:nvSpPr>
        <p:spPr>
          <a:xfrm>
            <a:off x="1051560" y="2697480"/>
            <a:ext cx="4715103" cy="950976"/>
          </a:xfrm>
          <a:prstGeom prst="rect">
            <a:avLst/>
          </a:prstGeom>
          <a:noFill/>
        </p:spPr>
        <p:txBody>
          <a:bodyPr wrap="square" lIns="0" rIns="0" tIns="0" bIns="0" anchor="t">
            <a:spAutoFit/>
          </a:bodyPr>
          <a:lstStyle/>
          <a:p>
            <a:pPr algn="l">
              <a:lnSpc>
                <a:spcPct val="115000"/>
              </a:lnSpc>
            </a:pPr>
            <a:r>
              <a:rPr sz="1350" b="0">
                <a:solidFill>
                  <a:srgbClr val="DCE6F2"/>
                </a:solidFill>
                <a:latin typeface="Arial"/>
              </a:rPr>
              <a:t>The core stays MIT. Contributors sign off commits (DCO), so contributions stay under MIT. A trademark policy protects the name.</a:t>
            </a:r>
          </a:p>
        </p:txBody>
      </p:sp>
      <p:sp>
        <p:nvSpPr>
          <p:cNvPr id="8" name="Rounded Rectangle 7"/>
          <p:cNvSpPr/>
          <p:nvPr/>
        </p:nvSpPr>
        <p:spPr>
          <a:xfrm>
            <a:off x="6196431" y="1920240"/>
            <a:ext cx="5172303" cy="1865376"/>
          </a:xfrm>
          <a:prstGeom prst="roundRect">
            <a:avLst>
              <a:gd name="adj" fmla="val 6000"/>
            </a:avLst>
          </a:prstGeom>
          <a:solidFill>
            <a:srgbClr val="16345C"/>
          </a:solidFill>
          <a:ln w="19050">
            <a:solidFill>
              <a:srgbClr val="2F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5031" y="2121408"/>
            <a:ext cx="4715103" cy="548640"/>
          </a:xfrm>
          <a:prstGeom prst="rect">
            <a:avLst/>
          </a:prstGeom>
          <a:noFill/>
        </p:spPr>
        <p:txBody>
          <a:bodyPr wrap="square" lIns="0" rIns="0" tIns="0" bIns="0" anchor="t">
            <a:spAutoFit/>
          </a:bodyPr>
          <a:lstStyle/>
          <a:p>
            <a:pPr algn="l">
              <a:lnSpc>
                <a:spcPct val="115000"/>
              </a:lnSpc>
            </a:pPr>
            <a:r>
              <a:rPr sz="1800" b="1">
                <a:solidFill>
                  <a:srgbClr val="F2B84B"/>
                </a:solidFill>
                <a:latin typeface="Arial"/>
              </a:rPr>
              <a:t>Security</a:t>
            </a:r>
          </a:p>
        </p:txBody>
      </p:sp>
      <p:sp>
        <p:nvSpPr>
          <p:cNvPr id="10" name="TextBox 9"/>
          <p:cNvSpPr txBox="1"/>
          <p:nvPr/>
        </p:nvSpPr>
        <p:spPr>
          <a:xfrm>
            <a:off x="6425031" y="2697480"/>
            <a:ext cx="4715103" cy="950976"/>
          </a:xfrm>
          <a:prstGeom prst="rect">
            <a:avLst/>
          </a:prstGeom>
          <a:noFill/>
        </p:spPr>
        <p:txBody>
          <a:bodyPr wrap="square" lIns="0" rIns="0" tIns="0" bIns="0" anchor="t">
            <a:spAutoFit/>
          </a:bodyPr>
          <a:lstStyle/>
          <a:p>
            <a:pPr algn="l">
              <a:lnSpc>
                <a:spcPct val="115000"/>
              </a:lnSpc>
            </a:pPr>
            <a:r>
              <a:rPr sz="1350" b="0">
                <a:solidFill>
                  <a:srgbClr val="DCE6F2"/>
                </a:solidFill>
                <a:latin typeface="Arial"/>
              </a:rPr>
              <a:t>Security policy and private vulnerability reporting from day one. Targets: reply in 3 business days, fix critical issues in 14.</a:t>
            </a:r>
          </a:p>
        </p:txBody>
      </p:sp>
      <p:sp>
        <p:nvSpPr>
          <p:cNvPr id="11" name="Rounded Rectangle 10"/>
          <p:cNvSpPr/>
          <p:nvPr/>
        </p:nvSpPr>
        <p:spPr>
          <a:xfrm>
            <a:off x="822960" y="3986784"/>
            <a:ext cx="5172303" cy="1865376"/>
          </a:xfrm>
          <a:prstGeom prst="roundRect">
            <a:avLst>
              <a:gd name="adj" fmla="val 6000"/>
            </a:avLst>
          </a:prstGeom>
          <a:solidFill>
            <a:srgbClr val="16345C"/>
          </a:solidFill>
          <a:ln w="19050">
            <a:solidFill>
              <a:srgbClr val="2F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187952"/>
            <a:ext cx="4715103" cy="548640"/>
          </a:xfrm>
          <a:prstGeom prst="rect">
            <a:avLst/>
          </a:prstGeom>
          <a:noFill/>
        </p:spPr>
        <p:txBody>
          <a:bodyPr wrap="square" lIns="0" rIns="0" tIns="0" bIns="0" anchor="t">
            <a:spAutoFit/>
          </a:bodyPr>
          <a:lstStyle/>
          <a:p>
            <a:pPr algn="l">
              <a:lnSpc>
                <a:spcPct val="115000"/>
              </a:lnSpc>
            </a:pPr>
            <a:r>
              <a:rPr sz="1800" b="1">
                <a:solidFill>
                  <a:srgbClr val="F2B84B"/>
                </a:solidFill>
                <a:latin typeface="Arial"/>
              </a:rPr>
              <a:t>Support</a:t>
            </a:r>
          </a:p>
        </p:txBody>
      </p:sp>
      <p:sp>
        <p:nvSpPr>
          <p:cNvPr id="13" name="TextBox 12"/>
          <p:cNvSpPr txBox="1"/>
          <p:nvPr/>
        </p:nvSpPr>
        <p:spPr>
          <a:xfrm>
            <a:off x="1051560" y="4764024"/>
            <a:ext cx="4715103" cy="950976"/>
          </a:xfrm>
          <a:prstGeom prst="rect">
            <a:avLst/>
          </a:prstGeom>
          <a:noFill/>
        </p:spPr>
        <p:txBody>
          <a:bodyPr wrap="square" lIns="0" rIns="0" tIns="0" bIns="0" anchor="t">
            <a:spAutoFit/>
          </a:bodyPr>
          <a:lstStyle/>
          <a:p>
            <a:pPr algn="l">
              <a:lnSpc>
                <a:spcPct val="115000"/>
              </a:lnSpc>
            </a:pPr>
            <a:r>
              <a:rPr sz="1350" b="0">
                <a:solidFill>
                  <a:srgbClr val="DCE6F2"/>
                </a:solidFill>
                <a:latin typeface="Arial"/>
              </a:rPr>
              <a:t>Best effort for the community. Design partners get a named contact in IST business hours and a monthly call. No 24x7 promise.</a:t>
            </a:r>
          </a:p>
        </p:txBody>
      </p:sp>
      <p:sp>
        <p:nvSpPr>
          <p:cNvPr id="14" name="Rounded Rectangle 13"/>
          <p:cNvSpPr/>
          <p:nvPr/>
        </p:nvSpPr>
        <p:spPr>
          <a:xfrm>
            <a:off x="6196431" y="3986784"/>
            <a:ext cx="5172303" cy="1865376"/>
          </a:xfrm>
          <a:prstGeom prst="roundRect">
            <a:avLst>
              <a:gd name="adj" fmla="val 6000"/>
            </a:avLst>
          </a:prstGeom>
          <a:solidFill>
            <a:srgbClr val="16345C"/>
          </a:solidFill>
          <a:ln w="19050">
            <a:solidFill>
              <a:srgbClr val="2F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5031" y="4187952"/>
            <a:ext cx="4715103" cy="548640"/>
          </a:xfrm>
          <a:prstGeom prst="rect">
            <a:avLst/>
          </a:prstGeom>
          <a:noFill/>
        </p:spPr>
        <p:txBody>
          <a:bodyPr wrap="square" lIns="0" rIns="0" tIns="0" bIns="0" anchor="t">
            <a:spAutoFit/>
          </a:bodyPr>
          <a:lstStyle/>
          <a:p>
            <a:pPr algn="l">
              <a:lnSpc>
                <a:spcPct val="115000"/>
              </a:lnSpc>
            </a:pPr>
            <a:r>
              <a:rPr sz="1800" b="1">
                <a:solidFill>
                  <a:srgbClr val="F2B84B"/>
                </a:solidFill>
                <a:latin typeface="Arial"/>
              </a:rPr>
              <a:t>Evidence</a:t>
            </a:r>
          </a:p>
        </p:txBody>
      </p:sp>
      <p:sp>
        <p:nvSpPr>
          <p:cNvPr id="16" name="TextBox 15"/>
          <p:cNvSpPr txBox="1"/>
          <p:nvPr/>
        </p:nvSpPr>
        <p:spPr>
          <a:xfrm>
            <a:off x="6425031" y="4764024"/>
            <a:ext cx="4715103" cy="950976"/>
          </a:xfrm>
          <a:prstGeom prst="rect">
            <a:avLst/>
          </a:prstGeom>
          <a:noFill/>
        </p:spPr>
        <p:txBody>
          <a:bodyPr wrap="square" lIns="0" rIns="0" tIns="0" bIns="0" anchor="t">
            <a:spAutoFit/>
          </a:bodyPr>
          <a:lstStyle/>
          <a:p>
            <a:pPr algn="l">
              <a:lnSpc>
                <a:spcPct val="115000"/>
              </a:lnSpc>
            </a:pPr>
            <a:r>
              <a:rPr sz="1350" b="0">
                <a:solidFill>
                  <a:srgbClr val="DCE6F2"/>
                </a:solidFill>
                <a:latin typeface="Arial"/>
              </a:rPr>
              <a:t>A public 30, 60 and 90 day plan, and a monthly update with installs, downloads and contributors.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822960" y="640080"/>
            <a:ext cx="10545775" cy="1188720"/>
          </a:xfrm>
          <a:prstGeom prst="rect">
            <a:avLst/>
          </a:prstGeom>
          <a:noFill/>
        </p:spPr>
        <p:txBody>
          <a:bodyPr wrap="square" lIns="0" rIns="0" tIns="0" bIns="0" anchor="t">
            <a:spAutoFit/>
          </a:bodyPr>
          <a:lstStyle/>
          <a:p>
            <a:pPr algn="l">
              <a:lnSpc>
                <a:spcPct val="105000"/>
              </a:lnSpc>
            </a:pPr>
            <a:r>
              <a:rPr sz="3200" b="1">
                <a:solidFill>
                  <a:srgbClr val="14213D"/>
                </a:solidFill>
                <a:latin typeface="Arial"/>
              </a:rPr>
              <a:t>The ask matches the stage: pre-traction</a:t>
            </a:r>
          </a:p>
        </p:txBody>
      </p:sp>
      <p:pic>
        <p:nvPicPr>
          <p:cNvPr id="3" name="Picture 2" descr="sethucms_logo.png"/>
          <p:cNvPicPr>
            <a:picLocks noChangeAspect="1"/>
          </p:cNvPicPr>
          <p:nvPr/>
        </p:nvPicPr>
        <p:blipFill>
          <a:blip r:embed="rId2"/>
          <a:stretch>
            <a:fillRect/>
          </a:stretch>
        </p:blipFill>
        <p:spPr>
          <a:xfrm>
            <a:off x="822960" y="6291072"/>
            <a:ext cx="310896" cy="310896"/>
          </a:xfrm>
          <a:prstGeom prst="rect">
            <a:avLst/>
          </a:prstGeom>
        </p:spPr>
      </p:pic>
      <p:sp>
        <p:nvSpPr>
          <p:cNvPr id="4" name="TextBox 3"/>
          <p:cNvSpPr txBox="1"/>
          <p:nvPr/>
        </p:nvSpPr>
        <p:spPr>
          <a:xfrm>
            <a:off x="1243584" y="6355080"/>
            <a:ext cx="7315200" cy="274320"/>
          </a:xfrm>
          <a:prstGeom prst="rect">
            <a:avLst/>
          </a:prstGeom>
          <a:noFill/>
        </p:spPr>
        <p:txBody>
          <a:bodyPr wrap="square" lIns="0" rIns="0" tIns="0" bIns="0" anchor="t">
            <a:spAutoFit/>
          </a:bodyPr>
          <a:lstStyle/>
          <a:p>
            <a:pPr algn="l">
              <a:lnSpc>
                <a:spcPct val="115000"/>
              </a:lnSpc>
            </a:pPr>
            <a:r>
              <a:rPr sz="1000" b="0">
                <a:solidFill>
                  <a:srgbClr val="6B7280"/>
                </a:solidFill>
                <a:latin typeface="Arial"/>
              </a:rPr>
              <a:t>SethuCMS · Business case</a:t>
            </a:r>
          </a:p>
        </p:txBody>
      </p:sp>
      <p:sp>
        <p:nvSpPr>
          <p:cNvPr id="5" name="Rounded Rectangle 4"/>
          <p:cNvSpPr/>
          <p:nvPr/>
        </p:nvSpPr>
        <p:spPr>
          <a:xfrm>
            <a:off x="822960" y="1737360"/>
            <a:ext cx="6400800" cy="3291840"/>
          </a:xfrm>
          <a:prstGeom prst="roundRect">
            <a:avLst>
              <a:gd name="adj" fmla="val 6000"/>
            </a:avLst>
          </a:prstGeom>
          <a:solidFill>
            <a:srgbClr val="FFFFFF"/>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74519"/>
            <a:ext cx="5852160" cy="457200"/>
          </a:xfrm>
          <a:prstGeom prst="rect">
            <a:avLst/>
          </a:prstGeom>
          <a:noFill/>
        </p:spPr>
        <p:txBody>
          <a:bodyPr wrap="square" lIns="0" rIns="0" tIns="0" bIns="0" anchor="t">
            <a:spAutoFit/>
          </a:bodyPr>
          <a:lstStyle/>
          <a:p>
            <a:pPr algn="l">
              <a:lnSpc>
                <a:spcPct val="115000"/>
              </a:lnSpc>
            </a:pPr>
            <a:r>
              <a:rPr sz="2000" b="1">
                <a:solidFill>
                  <a:srgbClr val="1F4E79"/>
                </a:solidFill>
                <a:latin typeface="Arial"/>
              </a:rPr>
              <a:t>What we are asking for</a:t>
            </a:r>
          </a:p>
        </p:txBody>
      </p:sp>
      <p:sp>
        <p:nvSpPr>
          <p:cNvPr id="7" name="TextBox 6"/>
          <p:cNvSpPr txBox="1"/>
          <p:nvPr/>
        </p:nvSpPr>
        <p:spPr>
          <a:xfrm>
            <a:off x="1097280" y="2423160"/>
            <a:ext cx="5852160" cy="2560320"/>
          </a:xfrm>
          <a:prstGeom prst="rect">
            <a:avLst/>
          </a:prstGeom>
          <a:noFill/>
        </p:spPr>
        <p:txBody>
          <a:bodyPr wrap="square" lIns="0" rIns="0" tIns="0" bIns="0">
            <a:spAutoFit/>
          </a:bodyPr>
          <a:lstStyle/>
          <a:p>
            <a:pPr>
              <a:lnSpc>
                <a:spcPct val="110000"/>
              </a:lnSpc>
              <a:spcAft>
                <a:spcPts val="500"/>
              </a:spcAft>
            </a:pPr>
            <a:r>
              <a:rPr sz="1350">
                <a:solidFill>
                  <a:srgbClr val="14213D"/>
                </a:solidFill>
                <a:latin typeface="Arial"/>
              </a:rPr>
              <a:t>•  Introductions to design partners who run real databases</a:t>
            </a:r>
          </a:p>
          <a:p>
            <a:pPr>
              <a:lnSpc>
                <a:spcPct val="110000"/>
              </a:lnSpc>
              <a:spcAft>
                <a:spcPts val="500"/>
              </a:spcAft>
            </a:pPr>
            <a:r>
              <a:rPr sz="1350">
                <a:solidFill>
                  <a:srgbClr val="14213D"/>
                </a:solidFill>
                <a:latin typeface="Arial"/>
              </a:rPr>
              <a:t>•  A grant or programme place, such as the GitHub Secure Open Source Fund ($10,000 per project)</a:t>
            </a:r>
          </a:p>
          <a:p>
            <a:pPr>
              <a:lnSpc>
                <a:spcPct val="110000"/>
              </a:lnSpc>
              <a:spcAft>
                <a:spcPts val="500"/>
              </a:spcAft>
            </a:pPr>
            <a:r>
              <a:rPr sz="1350">
                <a:solidFill>
                  <a:srgbClr val="14213D"/>
                </a:solidFill>
                <a:latin typeface="Arial"/>
              </a:rPr>
              <a:t>•  An incubator introduction for the Startup India Seed Fund, once incorporated</a:t>
            </a:r>
          </a:p>
          <a:p>
            <a:pPr>
              <a:lnSpc>
                <a:spcPct val="110000"/>
              </a:lnSpc>
              <a:spcAft>
                <a:spcPts val="500"/>
              </a:spcAft>
            </a:pPr>
            <a:r>
              <a:rPr sz="1350">
                <a:solidFill>
                  <a:srgbClr val="14213D"/>
                </a:solidFill>
                <a:latin typeface="Arial"/>
              </a:rPr>
              <a:t>•  A small pre-seed cheque, sized to 9 to 12 months of runway [amount to be set]</a:t>
            </a:r>
          </a:p>
        </p:txBody>
      </p:sp>
      <p:sp>
        <p:nvSpPr>
          <p:cNvPr id="8" name="Rounded Rectangle 7"/>
          <p:cNvSpPr/>
          <p:nvPr/>
        </p:nvSpPr>
        <p:spPr>
          <a:xfrm>
            <a:off x="7406640" y="1737360"/>
            <a:ext cx="3962095" cy="3291840"/>
          </a:xfrm>
          <a:prstGeom prst="roundRect">
            <a:avLst>
              <a:gd name="adj" fmla="val 6000"/>
            </a:avLst>
          </a:prstGeom>
          <a:solidFill>
            <a:srgbClr val="FFFFFF"/>
          </a:solidFill>
          <a:ln w="25400">
            <a:solidFill>
              <a:srgbClr val="9A5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1874519"/>
            <a:ext cx="3383280" cy="822960"/>
          </a:xfrm>
          <a:prstGeom prst="rect">
            <a:avLst/>
          </a:prstGeom>
          <a:noFill/>
        </p:spPr>
        <p:txBody>
          <a:bodyPr wrap="square" lIns="0" rIns="0" tIns="0" bIns="0" anchor="t">
            <a:spAutoFit/>
          </a:bodyPr>
          <a:lstStyle/>
          <a:p>
            <a:pPr algn="l">
              <a:lnSpc>
                <a:spcPct val="115000"/>
              </a:lnSpc>
            </a:pPr>
            <a:r>
              <a:rPr sz="2000" b="1">
                <a:solidFill>
                  <a:srgbClr val="9A5B00"/>
                </a:solidFill>
                <a:latin typeface="Arial"/>
              </a:rPr>
              <a:t>What we are not asking for</a:t>
            </a:r>
          </a:p>
        </p:txBody>
      </p:sp>
      <p:sp>
        <p:nvSpPr>
          <p:cNvPr id="10" name="TextBox 9"/>
          <p:cNvSpPr txBox="1"/>
          <p:nvPr/>
        </p:nvSpPr>
        <p:spPr>
          <a:xfrm>
            <a:off x="7680960" y="2743200"/>
            <a:ext cx="3383280" cy="2194560"/>
          </a:xfrm>
          <a:prstGeom prst="rect">
            <a:avLst/>
          </a:prstGeom>
          <a:noFill/>
        </p:spPr>
        <p:txBody>
          <a:bodyPr wrap="square" lIns="0" rIns="0" tIns="0" bIns="0" anchor="t">
            <a:spAutoFit/>
          </a:bodyPr>
          <a:lstStyle/>
          <a:p>
            <a:pPr algn="l">
              <a:lnSpc>
                <a:spcPct val="115000"/>
              </a:lnSpc>
            </a:pPr>
            <a:r>
              <a:rPr sz="1400" b="0">
                <a:solidFill>
                  <a:srgbClr val="14213D"/>
                </a:solidFill>
                <a:latin typeface="Arial"/>
              </a:rPr>
              <a:t>A scaled seed round. With zero users, the honest comparison is a small pre-seed, not a median seed.</a:t>
            </a:r>
          </a:p>
        </p:txBody>
      </p:sp>
      <p:sp>
        <p:nvSpPr>
          <p:cNvPr id="11" name="TextBox 10"/>
          <p:cNvSpPr txBox="1"/>
          <p:nvPr/>
        </p:nvSpPr>
        <p:spPr>
          <a:xfrm>
            <a:off x="822960" y="5303520"/>
            <a:ext cx="10545775" cy="640080"/>
          </a:xfrm>
          <a:prstGeom prst="rect">
            <a:avLst/>
          </a:prstGeom>
          <a:noFill/>
        </p:spPr>
        <p:txBody>
          <a:bodyPr wrap="square" lIns="0" rIns="0" tIns="0" bIns="0" anchor="t">
            <a:spAutoFit/>
          </a:bodyPr>
          <a:lstStyle/>
          <a:p>
            <a:pPr algn="l">
              <a:lnSpc>
                <a:spcPct val="115000"/>
              </a:lnSpc>
            </a:pPr>
            <a:r>
              <a:rPr sz="1400" b="0">
                <a:solidFill>
                  <a:srgbClr val="4A5568"/>
                </a:solidFill>
                <a:latin typeface="Arial"/>
              </a:rPr>
              <a:t>What investors will see monthly: real installs, @sethucms/sdk downloads, outside contributors, issue response time and named design partners. No bought stars.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2340"/>
        </a:solidFill>
        <a:effectLst/>
      </p:bgPr>
    </p:bg>
    <p:spTree>
      <p:nvGrpSpPr>
        <p:cNvPr id="1" name=""/>
        <p:cNvGrpSpPr/>
        <p:nvPr/>
      </p:nvGrpSpPr>
      <p:grpSpPr/>
      <p:sp>
        <p:nvSpPr>
          <p:cNvPr id="2" name="TextBox 1"/>
          <p:cNvSpPr txBox="1"/>
          <p:nvPr/>
        </p:nvSpPr>
        <p:spPr>
          <a:xfrm>
            <a:off x="822960" y="1554480"/>
            <a:ext cx="10058400" cy="2011680"/>
          </a:xfrm>
          <a:prstGeom prst="rect">
            <a:avLst/>
          </a:prstGeom>
          <a:noFill/>
        </p:spPr>
        <p:txBody>
          <a:bodyPr wrap="square" lIns="0" rIns="0" tIns="0" bIns="0" anchor="t">
            <a:spAutoFit/>
          </a:bodyPr>
          <a:lstStyle/>
          <a:p>
            <a:pPr algn="l">
              <a:lnSpc>
                <a:spcPct val="105000"/>
              </a:lnSpc>
            </a:pPr>
            <a:r>
              <a:rPr sz="4600" b="1">
                <a:solidFill>
                  <a:srgbClr val="EAF0F8"/>
                </a:solidFill>
                <a:latin typeface="Arial"/>
              </a:rPr>
              <a:t>Connect your databases. Keep your data where it is.</a:t>
            </a:r>
          </a:p>
        </p:txBody>
      </p:sp>
      <p:sp>
        <p:nvSpPr>
          <p:cNvPr id="3" name="Rounded Rectangle 2"/>
          <p:cNvSpPr/>
          <p:nvPr/>
        </p:nvSpPr>
        <p:spPr>
          <a:xfrm>
            <a:off x="822960" y="4023360"/>
            <a:ext cx="3381146" cy="1645920"/>
          </a:xfrm>
          <a:prstGeom prst="roundRect">
            <a:avLst>
              <a:gd name="adj" fmla="val 6000"/>
            </a:avLst>
          </a:prstGeom>
          <a:solidFill>
            <a:srgbClr val="16345C"/>
          </a:solidFill>
          <a:ln w="19050">
            <a:solidFill>
              <a:srgbClr val="2F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4224528"/>
            <a:ext cx="2923946" cy="548640"/>
          </a:xfrm>
          <a:prstGeom prst="rect">
            <a:avLst/>
          </a:prstGeom>
          <a:noFill/>
        </p:spPr>
        <p:txBody>
          <a:bodyPr wrap="square" lIns="0" rIns="0" tIns="0" bIns="0" anchor="t">
            <a:spAutoFit/>
          </a:bodyPr>
          <a:lstStyle/>
          <a:p>
            <a:pPr algn="l">
              <a:lnSpc>
                <a:spcPct val="115000"/>
              </a:lnSpc>
            </a:pPr>
            <a:r>
              <a:rPr sz="1800" b="1">
                <a:solidFill>
                  <a:srgbClr val="F2B84B"/>
                </a:solidFill>
                <a:latin typeface="Arial"/>
              </a:rPr>
              <a:t>Try it</a:t>
            </a:r>
          </a:p>
        </p:txBody>
      </p:sp>
      <p:sp>
        <p:nvSpPr>
          <p:cNvPr id="5" name="TextBox 4"/>
          <p:cNvSpPr txBox="1"/>
          <p:nvPr/>
        </p:nvSpPr>
        <p:spPr>
          <a:xfrm>
            <a:off x="1051560" y="4800600"/>
            <a:ext cx="2923946" cy="731520"/>
          </a:xfrm>
          <a:prstGeom prst="rect">
            <a:avLst/>
          </a:prstGeom>
          <a:noFill/>
        </p:spPr>
        <p:txBody>
          <a:bodyPr wrap="square" lIns="0" rIns="0" tIns="0" bIns="0" anchor="t">
            <a:spAutoFit/>
          </a:bodyPr>
          <a:lstStyle/>
          <a:p>
            <a:pPr algn="l">
              <a:lnSpc>
                <a:spcPct val="115000"/>
              </a:lnSpc>
            </a:pPr>
            <a:r>
              <a:rPr sz="1400" b="0">
                <a:solidFill>
                  <a:srgbClr val="DCE6F2"/>
                </a:solidFill>
                <a:latin typeface="Arial"/>
              </a:rPr>
              <a:t>npm install @sethucms/sdk</a:t>
            </a:r>
          </a:p>
        </p:txBody>
      </p:sp>
      <p:sp>
        <p:nvSpPr>
          <p:cNvPr id="6" name="Rounded Rectangle 5"/>
          <p:cNvSpPr/>
          <p:nvPr/>
        </p:nvSpPr>
        <p:spPr>
          <a:xfrm>
            <a:off x="4405274" y="4023360"/>
            <a:ext cx="3381146" cy="1645920"/>
          </a:xfrm>
          <a:prstGeom prst="roundRect">
            <a:avLst>
              <a:gd name="adj" fmla="val 6000"/>
            </a:avLst>
          </a:prstGeom>
          <a:solidFill>
            <a:srgbClr val="16345C"/>
          </a:solidFill>
          <a:ln w="19050">
            <a:solidFill>
              <a:srgbClr val="2F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33874" y="4224528"/>
            <a:ext cx="2923946" cy="548640"/>
          </a:xfrm>
          <a:prstGeom prst="rect">
            <a:avLst/>
          </a:prstGeom>
          <a:noFill/>
        </p:spPr>
        <p:txBody>
          <a:bodyPr wrap="square" lIns="0" rIns="0" tIns="0" bIns="0" anchor="t">
            <a:spAutoFit/>
          </a:bodyPr>
          <a:lstStyle/>
          <a:p>
            <a:pPr algn="l">
              <a:lnSpc>
                <a:spcPct val="115000"/>
              </a:lnSpc>
            </a:pPr>
            <a:r>
              <a:rPr sz="1800" b="1">
                <a:solidFill>
                  <a:srgbClr val="F2B84B"/>
                </a:solidFill>
                <a:latin typeface="Arial"/>
              </a:rPr>
              <a:t>Read the code</a:t>
            </a:r>
          </a:p>
        </p:txBody>
      </p:sp>
      <p:sp>
        <p:nvSpPr>
          <p:cNvPr id="8" name="TextBox 7"/>
          <p:cNvSpPr txBox="1"/>
          <p:nvPr/>
        </p:nvSpPr>
        <p:spPr>
          <a:xfrm>
            <a:off x="4633874" y="4800600"/>
            <a:ext cx="2923946" cy="731520"/>
          </a:xfrm>
          <a:prstGeom prst="rect">
            <a:avLst/>
          </a:prstGeom>
          <a:noFill/>
        </p:spPr>
        <p:txBody>
          <a:bodyPr wrap="square" lIns="0" rIns="0" tIns="0" bIns="0" anchor="t">
            <a:spAutoFit/>
          </a:bodyPr>
          <a:lstStyle/>
          <a:p>
            <a:pPr algn="l">
              <a:lnSpc>
                <a:spcPct val="115000"/>
              </a:lnSpc>
            </a:pPr>
            <a:r>
              <a:rPr sz="1400" b="0">
                <a:solidFill>
                  <a:srgbClr val="DCE6F2"/>
                </a:solidFill>
                <a:latin typeface="Arial"/>
              </a:rPr>
              <a:t>github.com/SethuCMS</a:t>
            </a:r>
          </a:p>
        </p:txBody>
      </p:sp>
      <p:sp>
        <p:nvSpPr>
          <p:cNvPr id="9" name="Rounded Rectangle 8"/>
          <p:cNvSpPr/>
          <p:nvPr/>
        </p:nvSpPr>
        <p:spPr>
          <a:xfrm>
            <a:off x="7987588" y="4023360"/>
            <a:ext cx="3381146" cy="1645920"/>
          </a:xfrm>
          <a:prstGeom prst="roundRect">
            <a:avLst>
              <a:gd name="adj" fmla="val 6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6188" y="4224528"/>
            <a:ext cx="2923946" cy="548640"/>
          </a:xfrm>
          <a:prstGeom prst="rect">
            <a:avLst/>
          </a:prstGeom>
          <a:noFill/>
        </p:spPr>
        <p:txBody>
          <a:bodyPr wrap="square" lIns="0" rIns="0" tIns="0" bIns="0" anchor="t">
            <a:spAutoFit/>
          </a:bodyPr>
          <a:lstStyle/>
          <a:p>
            <a:pPr algn="l">
              <a:lnSpc>
                <a:spcPct val="115000"/>
              </a:lnSpc>
            </a:pPr>
            <a:r>
              <a:rPr sz="1800" b="1">
                <a:solidFill>
                  <a:srgbClr val="0E2340"/>
                </a:solidFill>
                <a:latin typeface="Arial"/>
              </a:rPr>
              <a:t>Work with us</a:t>
            </a:r>
          </a:p>
        </p:txBody>
      </p:sp>
      <p:sp>
        <p:nvSpPr>
          <p:cNvPr id="11" name="TextBox 10"/>
          <p:cNvSpPr txBox="1"/>
          <p:nvPr/>
        </p:nvSpPr>
        <p:spPr>
          <a:xfrm>
            <a:off x="8216188" y="4800600"/>
            <a:ext cx="2923946" cy="731520"/>
          </a:xfrm>
          <a:prstGeom prst="rect">
            <a:avLst/>
          </a:prstGeom>
          <a:noFill/>
        </p:spPr>
        <p:txBody>
          <a:bodyPr wrap="square" lIns="0" rIns="0" tIns="0" bIns="0" anchor="t">
            <a:spAutoFit/>
          </a:bodyPr>
          <a:lstStyle/>
          <a:p>
            <a:pPr algn="l">
              <a:lnSpc>
                <a:spcPct val="115000"/>
              </a:lnSpc>
            </a:pPr>
            <a:r>
              <a:rPr sz="1400" b="0">
                <a:solidFill>
                  <a:srgbClr val="0E2340"/>
                </a:solidFill>
                <a:latin typeface="Arial"/>
              </a:rPr>
              <a:t>Looking for design partners to run it on real data.</a:t>
            </a:r>
          </a:p>
        </p:txBody>
      </p:sp>
      <p:pic>
        <p:nvPicPr>
          <p:cNvPr id="12" name="Picture 11" descr="sethucms_logo.png"/>
          <p:cNvPicPr>
            <a:picLocks noChangeAspect="1"/>
          </p:cNvPicPr>
          <p:nvPr/>
        </p:nvPicPr>
        <p:blipFill>
          <a:blip r:embed="rId3"/>
          <a:stretch>
            <a:fillRect/>
          </a:stretch>
        </p:blipFill>
        <p:spPr>
          <a:xfrm>
            <a:off x="822960" y="6291072"/>
            <a:ext cx="310896" cy="310896"/>
          </a:xfrm>
          <a:prstGeom prst="rect">
            <a:avLst/>
          </a:prstGeom>
        </p:spPr>
      </p:pic>
      <p:sp>
        <p:nvSpPr>
          <p:cNvPr id="13" name="TextBox 12"/>
          <p:cNvSpPr txBox="1"/>
          <p:nvPr/>
        </p:nvSpPr>
        <p:spPr>
          <a:xfrm>
            <a:off x="1243584" y="6355080"/>
            <a:ext cx="10058400" cy="274320"/>
          </a:xfrm>
          <a:prstGeom prst="rect">
            <a:avLst/>
          </a:prstGeom>
          <a:noFill/>
        </p:spPr>
        <p:txBody>
          <a:bodyPr wrap="square" lIns="0" rIns="0" tIns="0" bIns="0" anchor="t">
            <a:spAutoFit/>
          </a:bodyPr>
          <a:lstStyle/>
          <a:p>
            <a:pPr algn="l">
              <a:lnSpc>
                <a:spcPct val="115000"/>
              </a:lnSpc>
            </a:pPr>
            <a:r>
              <a:rPr sz="1100" b="0">
                <a:solidFill>
                  <a:srgbClr val="8FA6C4"/>
                </a:solidFill>
                <a:latin typeface="Arial"/>
              </a:rPr>
              <a:t>Open source · MIT · Kasinadh Sarma · kasinadhsarma@gmail.com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